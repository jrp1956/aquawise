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61" r:id="rId2"/>
    <p:sldId id="262" r:id="rId3"/>
    <p:sldId id="266" r:id="rId24"/>
    <p:sldId id="265" r:id="rId23"/>
    <p:sldId id="264" r:id="rId22"/>
  </p:sldIdLst>
  <p:sldSz cx="12192000" cy="6858000"/>
  <p:notesSz cx="6858000" cy="9144000"/>
  <p:embeddedFontLst>
    <p:embeddedFont>
      <p:font typeface="Fira Sans" charset="0"/>
      <p:regular r:id="rId11"/>
    </p:embeddedFont>
    <p:embeddedFont>
      <p:font typeface="Calibri" pitchFamily="34" charset="0"/>
      <p:regular r:id="rId12"/>
      <p:bold r:id="rId13"/>
      <p:italic r:id="rId14"/>
      <p:boldItalic r:id="rId15"/>
    </p:embeddedFont>
    <p:embeddedFont>
      <p:font typeface="Marcellus" charset="0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bWDH9BgynZPotlxacZXWgy2wV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1" d="100"/>
          <a:sy n="71" d="100"/>
        </p:scale>
        <p:origin x="-38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5.xml"/><Relationship Id="rId23" Type="http://schemas.openxmlformats.org/officeDocument/2006/relationships/slide" Target="slides/slide4.xml"/><Relationship Id="rId24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59485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TALKING POINTS (≈30 s)</a:t>
            </a:r>
          </a:p>
          <a:p>
            <a:r>
              <a:t>• Greet the panel; introduce both team members and our guide, Prof. Sonia Joshi.</a:t>
            </a:r>
          </a:p>
          <a:p>
            <a:r>
              <a:t>• Project: AquaWise, a smart water conservation and awareness portal.</a:t>
            </a:r>
          </a:p>
          <a:p>
            <a:r>
              <a:t>• Built for Web Programming Laboratory (216U40L501), TY EXCP-A.</a:t>
            </a:r>
          </a:p>
          <a:p>
            <a:r>
              <a:t>• Mapped to UN SDG 6, Clean Water and Sanitation, mainly targets 6.1 (safe drinking water) and 6.4 (water-use efficiency).</a:t>
            </a:r>
          </a:p>
          <a:p>
            <a:r>
              <a:t>• Stack from our syllabus: HTML5, CSS3, Bootstrap 5, JavaScript, React, Node.js/Express, MongoDB, session-based auth, Postman, cloud deployment.</a:t>
            </a:r>
          </a:p>
          <a:p>
            <a:r>
              <a:t>• One line to set up the talk: “AquaWise helps a household measure its water use, act correctly in a water crisis, and report problems to its housing society.”</a:t>
            </a:r>
          </a:p>
        </p:txBody>
      </p:sp>
      <p:sp>
        <p:nvSpPr>
          <p:cNvPr id="18" name="Google Shape;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TALKING POINTS (≈45 s)</a:t>
            </a:r>
          </a:p>
          <a:p>
            <a:r>
              <a:t>• Global scale [1]: WHO/UNICEF JMP (Aug 2025) — 2.1 billion people, 1 in 4, lacked safely managed drinking water in 2024; 106 million still drink untreated surface water.</a:t>
            </a:r>
          </a:p>
          <a:p>
            <a:r>
              <a:t>• India [2]: NITI Aayog’s Composite Water Management Index (June 2018) — about 600 million Indians face high to extreme water stress; India ranks 120th of 122 countries on water quality; demand is projected to be twice the available supply by 2030.</a:t>
            </a:r>
          </a:p>
          <a:p>
            <a:r>
              <a:t>• The gap we target is at household and society level:</a:t>
            </a:r>
          </a:p>
          <a:p>
            <a:r>
              <a:t>  – People don’t know how their daily use compares with the norm (CPHEEO plans for 135–150 litres per person per day in cities).</a:t>
            </a:r>
          </a:p>
          <a:p>
            <a:r>
              <a:t>  – In a leak, supply cut or contamination, nobody knows the right first steps or whom to call.</a:t>
            </a:r>
          </a:p>
          <a:p>
            <a:r>
              <a:t>  – Complaints to the society get lost in phone calls and chat groups, with no tracking.</a:t>
            </a:r>
          </a:p>
          <a:p>
            <a:r>
              <a:t>• AquaWise answers each gap with one feature: measure (calculator), advise (crisis engine), act (society portal).</a:t>
            </a:r>
          </a:p>
          <a:p>
            <a:r>
              <a:t>• If asked: the ‘2×’ and deaths figures come from the CWMI report; we cite the report directly.</a:t>
            </a:r>
          </a:p>
        </p:txBody>
      </p:sp>
      <p:sp>
        <p:nvSpPr>
          <p:cNvPr id="18" name="Google Shape;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 (≈60 s) — walk the numbered arrows</a:t>
            </a:r>
          </a:p>
          <a:p>
            <a:r>
              <a:t>• Three tiers: React + Bootstrap client, Node.js/Express REST API, MongoDB Atlas.</a:t>
            </a:r>
          </a:p>
          <a:p>
            <a:r>
              <a:t>• ① The browser loads the React build (HTML, JS, CSS) over HTTPS from Vercel’s CDN.</a:t>
            </a:r>
          </a:p>
          <a:p>
            <a:r>
              <a:t>• Client tier: the calculator and advisory modules run in the browser, so guests get instant results without a server call. AuthContext holds the logged-in user, role and society.</a:t>
            </a:r>
          </a:p>
          <a:p>
            <a:r>
              <a:t>• ② The API client calls the Express REST API over HTTPS with JSON, sending the session cookie (fetch with credentials: 'include'). Vercel rewrites /api/* to Render, so the browser sees one origin and the cookie can stay SameSite=Lax.</a:t>
            </a:r>
          </a:p>
          <a:p>
            <a:r>
              <a:t>• Application tier middleware, in order: helmet (security headers), CORS, JSON body parser, rate-limit on login (5 attempts / 15 min), express-session with connect-mongo. Routes then check requireAuth / requireRole.</a:t>
            </a:r>
          </a:p>
          <a:p>
            <a:r>
              <a:t>• Six route groups: auth, calculator, advisory, societies, complaints, dashboard. Business logic lives in pure-function services: calculator, advisory rules, complaint routing.</a:t>
            </a:r>
          </a:p>
          <a:p>
            <a:r>
              <a:t>• ③ Sessions are stored in MongoDB (TTL index, 2-hour expiry) over TLS.</a:t>
            </a:r>
          </a:p>
          <a:p>
            <a:r>
              <a:t>• ④ Mongoose models (User, Society, Complaint, CalculatorLog) read and write BSON documents in Atlas over mongodb+srv (TLS).</a:t>
            </a:r>
          </a:p>
          <a:p>
            <a:r>
              <a:t>• Same formulas and rules file are shared by client and server, so results always match.</a:t>
            </a:r>
          </a:p>
          <a:p>
            <a:r>
              <a:t>• Passwords are bcrypt-hashed; secrets live in Render environment variables.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 (≈70 s)</a:t>
            </a:r>
          </a:p>
          <a:p>
            <a:r>
              <a:t>1) Water Usage Calculator</a:t>
            </a:r>
          </a:p>
          <a:p>
            <a:r>
              <a:t>• Inputs: adults, children, city type, bathing (shower/bucket), toilet type, washing-machine loads, garden area, tap habits, dripping taps, optional litres received.</a:t>
            </a:r>
          </a:p>
          <a:p>
            <a:r>
              <a:t>• Output: litres per day for 8 activities, household total and litres per person per day (lpcd).</a:t>
            </a:r>
          </a:p>
          <a:p>
            <a:r>
              <a:t>• Compared with WHO service levels (20 / 50 / 100 L) [3], Jal Jeevan Mission’s 55 L [5] and CPHEEO’s 70 / 135 / 150 L norms [4]; flags over-use and under-supply.</a:t>
            </a:r>
          </a:p>
          <a:p>
            <a:r>
              <a:t>• Example on screen: 4 people in Mumbai → 678 L/day, 169.6 L per person → over-use against the 150 L metro norm.</a:t>
            </a:r>
          </a:p>
          <a:p>
            <a:r>
              <a:t>2) Crisis Advisory Engine</a:t>
            </a:r>
          </a:p>
          <a:p>
            <a:r>
              <a:t>• 5 problem types: leakage, no supply, unsafe drinking water, low pressure, contamination.</a:t>
            </a:r>
          </a:p>
          <a:p>
            <a:r>
              <a:t>• Up to 3 questions set the severity (low / medium / high / critical); 14 rules return ordered steps plus contacts.</a:t>
            </a:r>
          </a:p>
          <a:p>
            <a:r>
              <a:t>• Critical cases (e.g., burst pipe near electrics) show a one-tap 112 button; boiling/disinfection steps follow CDC guidance.</a:t>
            </a:r>
          </a:p>
          <a:p>
            <a:r>
              <a:t>• Rules are stored as data (JSON), not hard-coded, so they are easy to test and update.</a:t>
            </a:r>
          </a:p>
          <a:p>
            <a:r>
              <a:t>3) Society Portal</a:t>
            </a:r>
          </a:p>
          <a:p>
            <a:r>
              <a:t>• Session-based signup/login; join a society with a 6-character code.</a:t>
            </a:r>
          </a:p>
          <a:p>
            <a:r>
              <a:t>• File a complaint; it is routed automatically to the society contact who handles that category, else to the society admin.</a:t>
            </a:r>
          </a:p>
          <a:p>
            <a:r>
              <a:t>• Dashboard: counts of active, in-progress and resolved; admin updates status with a note; every change is kept in a history timeline; residents can reopen within 7 days.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 (≈35 s)</a:t>
            </a:r>
          </a:p>
          <a:p>
            <a:r>
              <a:t>• Results so far (design and prototype stage — replace with test results once the build is complete):</a:t>
            </a:r>
          </a:p>
          <a:p>
            <a:r>
              <a:t>  – Calculator verified against our hand-worked example: 169.55 L per person per day; switching to efficient shower, toilet and washing machine gives 144.70 L, a 14.7% drop, inside the 150 L norm.</a:t>
            </a:r>
          </a:p>
          <a:p>
            <a:r>
              <a:t>  – Advisory engine: 14 rules across 5 problem types, each mapped to one test case.</a:t>
            </a:r>
          </a:p>
          <a:p>
            <a:r>
              <a:t>  – 7 screens designed and prototyped in Bootstrap 5 at desktop (1440 px) and mobile (390 px); all colour pairs pass WCAG AA contrast.</a:t>
            </a:r>
          </a:p>
          <a:p>
            <a:r>
              <a:t>• Conclusion: AquaWise brings awareness, crisis guidance and society action into one portal, and every number it shows is traceable to a source.</a:t>
            </a:r>
          </a:p>
          <a:p>
            <a:r>
              <a:t>• Future scope: real meter or bill data, SMS/WhatsApp alerts, regional languages, wider city helpline coverage.</a:t>
            </a:r>
          </a:p>
          <a:p>
            <a:r>
              <a:t>• References in IEEE format on the slide. Thank the panel and invite questions.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="" xmlns:a16="http://schemas.microsoft.com/office/drawing/2014/main" id="{6F93FA11-668E-5D27-6486-F2A3F91F37D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="" xmlns:a16="http://schemas.microsoft.com/office/drawing/2014/main" id="{A7B1C99D-C4D1-45FD-111D-769C26834B4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="" xmlns:a16="http://schemas.microsoft.com/office/drawing/2014/main" id="{2994A560-18DD-F7FA-6DD2-C824990422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6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8" name="Google Shape;28;p6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29" name="Google Shape;29;p6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="" xmlns:a16="http://schemas.microsoft.com/office/drawing/2014/main" id="{45C52928-2C50-1A5B-EE93-8F4D4C23D2A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="" xmlns:a16="http://schemas.microsoft.com/office/drawing/2014/main" id="{26B1B699-1655-BFF4-3EEC-1A8B6C6CF2B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="" xmlns:a16="http://schemas.microsoft.com/office/drawing/2014/main" id="{C1EA1705-04BF-7289-C7D1-4935077A8E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="" xmlns:a16="http://schemas.microsoft.com/office/drawing/2014/main" id="{A5A530D4-7988-DD93-1F79-72D4E4A7AE5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="" xmlns:a16="http://schemas.microsoft.com/office/drawing/2014/main" id="{40917687-04A8-9A80-5C70-899E54DC239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="" xmlns:a16="http://schemas.microsoft.com/office/drawing/2014/main" id="{7567F952-39E5-337F-9349-50B557408F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="" xmlns:a16="http://schemas.microsoft.com/office/drawing/2014/main" id="{3BE4EE66-95F2-11F6-05EA-E5792929E64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="" xmlns:a16="http://schemas.microsoft.com/office/drawing/2014/main" id="{CD790172-54B1-1878-459A-282E99A7FB4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="" xmlns:a16="http://schemas.microsoft.com/office/drawing/2014/main" id="{04871C75-B572-7CC7-1B53-358A4FEE24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="" xmlns:a16="http://schemas.microsoft.com/office/drawing/2014/main" id="{5D40BE01-A796-ADDE-1067-A85126FB981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="" xmlns:a16="http://schemas.microsoft.com/office/drawing/2014/main" id="{C5F09E59-F1FA-4758-8DEB-A7EB3912E75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="" xmlns:a16="http://schemas.microsoft.com/office/drawing/2014/main" id="{6FC11D24-EC12-A80C-ADB8-D5E74CECE3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8" name="Google Shape;88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="" xmlns:a16="http://schemas.microsoft.com/office/drawing/2014/main" id="{213AF292-09D4-0240-9F52-B3CE283D196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="" xmlns:a16="http://schemas.microsoft.com/office/drawing/2014/main" id="{20A4B550-7FFA-C52B-9952-E28A393DD04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="" xmlns:a16="http://schemas.microsoft.com/office/drawing/2014/main" id="{2BC36ECE-C3D1-09DD-489B-CE38B06573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="" xmlns:a16="http://schemas.microsoft.com/office/drawing/2014/main" id="{EABDB97A-1573-9AE9-7909-28C3E654614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="" xmlns:a16="http://schemas.microsoft.com/office/drawing/2014/main" id="{184D9332-35CA-F8DE-8CC6-B575CA7CBF5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="" xmlns:a16="http://schemas.microsoft.com/office/drawing/2014/main" id="{0179A92C-6424-95BD-C452-01B2896127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6">
            <a:extLst>
              <a:ext uri="{FF2B5EF4-FFF2-40B4-BE49-F238E27FC236}">
                <a16:creationId xmlns="" xmlns:a16="http://schemas.microsoft.com/office/drawing/2014/main" id="{1E9D295B-756D-94F6-FA62-BAFD6BC1D42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="" xmlns:a16="http://schemas.microsoft.com/office/drawing/2014/main" id="{80AB6F56-86EA-513F-E160-6DD1EE9C47B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="" xmlns:a16="http://schemas.microsoft.com/office/drawing/2014/main" id="{0A8BF585-0ABE-47EC-65FA-540F276B8A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8" name="Google Shape;118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="" xmlns:a16="http://schemas.microsoft.com/office/drawing/2014/main" id="{92DB2441-62E7-3832-5EE5-42D43B0B914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="" xmlns:a16="http://schemas.microsoft.com/office/drawing/2014/main" id="{D868530D-AFB3-4C01-7548-464E74FEE2D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="" xmlns:a16="http://schemas.microsoft.com/office/drawing/2014/main" id="{A663D57F-09FB-1768-75C6-36B36B9856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;p5">
            <a:extLst>
              <a:ext uri="{FF2B5EF4-FFF2-40B4-BE49-F238E27FC236}">
                <a16:creationId xmlns="" xmlns:a16="http://schemas.microsoft.com/office/drawing/2014/main" id="{44909106-E9FD-B340-07F3-E7E43E0C87E5}"/>
              </a:ext>
            </a:extLst>
          </p:cNvPr>
          <p:cNvSpPr/>
          <p:nvPr userDrawn="1"/>
        </p:nvSpPr>
        <p:spPr>
          <a:xfrm>
            <a:off x="0" y="6080760"/>
            <a:ext cx="838200" cy="79049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3;p5">
            <a:extLst>
              <a:ext uri="{FF2B5EF4-FFF2-40B4-BE49-F238E27FC236}">
                <a16:creationId xmlns="" xmlns:a16="http://schemas.microsoft.com/office/drawing/2014/main" id="{EAAF044C-1D0D-0CFE-1234-30E94B876495}"/>
              </a:ext>
            </a:extLst>
          </p:cNvPr>
          <p:cNvSpPr/>
          <p:nvPr userDrawn="1"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4;p5">
            <a:extLst>
              <a:ext uri="{FF2B5EF4-FFF2-40B4-BE49-F238E27FC236}">
                <a16:creationId xmlns="" xmlns:a16="http://schemas.microsoft.com/office/drawing/2014/main" id="{5526ECCB-9585-9619-412C-AF7D491C3AAD}"/>
              </a:ext>
            </a:extLst>
          </p:cNvPr>
          <p:cNvSpPr/>
          <p:nvPr userDrawn="1"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5" name="Google Shape;21;p5" descr="Graphical user interface, text, application&#10;&#10;Description automatically generated">
            <a:extLst>
              <a:ext uri="{FF2B5EF4-FFF2-40B4-BE49-F238E27FC236}">
                <a16:creationId xmlns="" xmlns:a16="http://schemas.microsoft.com/office/drawing/2014/main" id="{93B2F81F-E84E-30FC-261A-95AAEEBA8CF0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11124596" y="226123"/>
            <a:ext cx="728472" cy="539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62" y="141576"/>
            <a:ext cx="2316256" cy="708705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 txBox="1">
            <a:spLocks noGrp="1"/>
          </p:cNvSpPr>
          <p:nvPr>
            <p:ph type="ctrTitle"/>
          </p:nvPr>
        </p:nvSpPr>
        <p:spPr>
          <a:xfrm>
            <a:off x="2926080" y="658368"/>
            <a:ext cx="633679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</a:pPr>
            <a:r>
              <a:rPr lang="en-IN" sz="4000" dirty="0" b="1">
                <a:solidFill>
                  <a:srgbClr val="084A87"/>
                </a:solidFill>
                <a:latin typeface="Arial"/>
              </a:rPr>
              <a:t>AquaWise</a:t>
            </a:r>
            <a:endParaRPr dirty="0"/>
          </a:p>
        </p:txBody>
      </p:sp>
      <p:sp>
        <p:nvSpPr>
          <p:cNvPr id="21" name="Google Shape;21;p1"/>
          <p:cNvSpPr txBox="1">
            <a:spLocks noGrp="1"/>
          </p:cNvSpPr>
          <p:nvPr>
            <p:ph type="subTitle" idx="1"/>
          </p:nvPr>
        </p:nvSpPr>
        <p:spPr>
          <a:xfrm>
            <a:off x="1280160" y="1298448"/>
            <a:ext cx="96286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dirty="0" sz="2400" b="1">
                <a:solidFill>
                  <a:srgbClr val="0F1B2A"/>
                </a:solidFill>
                <a:latin typeface="Arial"/>
              </a:rPr>
              <a:t>Smart Water Conservation and Awareness Portal</a:t>
            </a:r>
            <a:endParaRPr lang="en-US" dirty="0"/>
          </a:p>
        </p:txBody>
      </p:sp>
      <p:pic>
        <p:nvPicPr>
          <p:cNvPr id="4" name="Google Shape;32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518" y="2274354"/>
            <a:ext cx="6052457" cy="3512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21;p1"/>
          <p:cNvPicPr preferRelativeResize="0"/>
          <p:nvPr/>
        </p:nvPicPr>
        <p:blipFill rotWithShape="1">
          <a:blip r:embed="rId4">
            <a:alphaModFix/>
          </a:blip>
          <a:srcRect r="59220"/>
          <a:stretch/>
        </p:blipFill>
        <p:spPr>
          <a:xfrm rot="-5400000">
            <a:off x="7424061" y="1000149"/>
            <a:ext cx="3512457" cy="602342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8;p6">
            <a:extLst>
              <a:ext uri="{FF2B5EF4-FFF2-40B4-BE49-F238E27FC236}">
                <a16:creationId xmlns="" xmlns:a16="http://schemas.microsoft.com/office/drawing/2014/main" id="{C7F5AABD-9423-BE7A-5E7B-96193C87688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3" name="Google Shape;29;p6">
            <a:extLst>
              <a:ext uri="{FF2B5EF4-FFF2-40B4-BE49-F238E27FC236}">
                <a16:creationId xmlns="" xmlns:a16="http://schemas.microsoft.com/office/drawing/2014/main" id="{21F39B4C-3C88-D58D-1AE2-D86C5CC85B8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9" name="Google Shape;30;p6">
            <a:extLst>
              <a:ext uri="{FF2B5EF4-FFF2-40B4-BE49-F238E27FC236}">
                <a16:creationId xmlns="" xmlns:a16="http://schemas.microsoft.com/office/drawing/2014/main" id="{C46F5E81-7F9A-2292-04D4-6CA8EEE231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4315968" y="1810512"/>
            <a:ext cx="3566160" cy="365760"/>
          </a:xfrm>
          <a:prstGeom prst="roundRect">
            <a:avLst>
              <a:gd name="adj" fmla="val 50000"/>
            </a:avLst>
          </a:prstGeom>
          <a:solidFill>
            <a:srgbClr val="26BDE2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3" name="Picture 22" descr="ic_droplet-hal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544" y="1828800"/>
            <a:ext cx="329184" cy="3291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54880" y="1810512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B2A"/>
                </a:solidFill>
                <a:latin typeface="Arial"/>
              </a:rPr>
              <a:t>UN SDG 6 · Clean Water and Sanitation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84248" y="2971800"/>
            <a:ext cx="82296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286000" y="321868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A42530"/>
                </a:solidFill>
                <a:latin typeface="Arial"/>
              </a:rPr>
              <a:t>TEAM · TY EXCP-A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315968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E"/>
                </a:solidFill>
                <a:latin typeface="Arial"/>
              </a:rPr>
              <a:t>K J Somaiya School of Engineering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529584"/>
            <a:ext cx="3931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F1B2A"/>
                </a:solidFill>
                <a:latin typeface="Arial"/>
              </a:rPr>
              <a:t>Jaineel Patel</a:t>
            </a:r>
            <a:r>
              <a:rPr sz="1400" b="0" i="0">
                <a:solidFill>
                  <a:srgbClr val="5B6B7E"/>
                </a:solidFill>
                <a:latin typeface="Arial"/>
              </a:rPr>
              <a:t>   Roll No. [______]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F1B2A"/>
                </a:solidFill>
                <a:latin typeface="Arial"/>
              </a:rPr>
              <a:t>[Teammate name]</a:t>
            </a:r>
            <a:r>
              <a:rPr sz="1400" b="0" i="0">
                <a:solidFill>
                  <a:srgbClr val="5B6B7E"/>
                </a:solidFill>
                <a:latin typeface="Arial"/>
              </a:rPr>
              <a:t>   Roll No. [______]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09360" y="3200400"/>
            <a:ext cx="0" cy="1554480"/>
          </a:xfrm>
          <a:prstGeom prst="line">
            <a:avLst/>
          </a:prstGeom>
          <a:ln w="1270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0" y="321868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A42530"/>
                </a:solidFill>
                <a:latin typeface="Arial"/>
              </a:rPr>
              <a:t>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52958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1B2A"/>
                </a:solidFill>
                <a:latin typeface="Arial"/>
              </a:rPr>
              <a:t>Prof. Sonia Joshi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11480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A42530"/>
                </a:solidFill>
                <a:latin typeface="Arial"/>
              </a:rPr>
              <a:t>COURSE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407408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44456"/>
                </a:solidFill>
                <a:latin typeface="Arial"/>
              </a:rPr>
              <a:t>Web Programming Laboratory</a:t>
            </a:r>
          </a:p>
          <a:p>
            <a:pPr algn="l"/>
            <a:r>
              <a:rPr sz="1400" b="0" i="0">
                <a:solidFill>
                  <a:srgbClr val="344456"/>
                </a:solidFill>
                <a:latin typeface="Arial"/>
              </a:rPr>
              <a:t>216U40L501 · Semester V</a:t>
            </a:r>
          </a:p>
        </p:txBody>
      </p:sp>
    </p:spTree>
    <p:extLst>
      <p:ext uri="{BB962C8B-B14F-4D97-AF65-F5344CB8AC3E}">
        <p14:creationId xmlns:p14="http://schemas.microsoft.com/office/powerpoint/2010/main" val="2811253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 txBox="1">
            <a:spLocks noGrp="1"/>
          </p:cNvSpPr>
          <p:nvPr>
            <p:ph type="ctrTitle"/>
          </p:nvPr>
        </p:nvSpPr>
        <p:spPr>
          <a:xfrm>
            <a:off x="1703512" y="404664"/>
            <a:ext cx="9144000" cy="722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</a:pPr>
            <a:r>
              <a:rPr lang="en-IN" sz="3200" dirty="0" b="1">
                <a:solidFill>
                  <a:srgbClr val="0F1B2A"/>
                </a:solidFill>
                <a:latin typeface="Arial"/>
              </a:rPr>
              <a:t>Problem Statement</a:t>
            </a:r>
            <a:endParaRPr sz="3600" dirty="0"/>
          </a:p>
        </p:txBody>
      </p:sp>
      <p:sp>
        <p:nvSpPr>
          <p:cNvPr id="2" name="Google Shape;28;p6">
            <a:extLst>
              <a:ext uri="{FF2B5EF4-FFF2-40B4-BE49-F238E27FC236}">
                <a16:creationId xmlns="" xmlns:a16="http://schemas.microsoft.com/office/drawing/2014/main" id="{549F0C40-71EF-DDDF-2F69-F15733F9223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3" name="Google Shape;29;p6">
            <a:extLst>
              <a:ext uri="{FF2B5EF4-FFF2-40B4-BE49-F238E27FC236}">
                <a16:creationId xmlns="" xmlns:a16="http://schemas.microsoft.com/office/drawing/2014/main" id="{BD9EB9F3-ACCC-CA29-82D0-199936CB5A5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8" name="Google Shape;30;p6">
            <a:extLst>
              <a:ext uri="{FF2B5EF4-FFF2-40B4-BE49-F238E27FC236}">
                <a16:creationId xmlns="" xmlns:a16="http://schemas.microsoft.com/office/drawing/2014/main" id="{43F358E2-BE0A-24B2-4518-941E0E4D61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640080" y="1325880"/>
            <a:ext cx="5120640" cy="1298448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D5DEE8"/>
            </a:solidFill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1325880"/>
            <a:ext cx="237744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5DA8"/>
                </a:solidFill>
                <a:latin typeface="Arial"/>
              </a:rPr>
              <a:t>2.1 billion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1325880"/>
            <a:ext cx="228600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344456"/>
                </a:solidFill>
                <a:latin typeface="Arial"/>
              </a:rPr>
              <a:t>people lacked safely managed drinking water in 2024</a:t>
            </a:r>
            <a:r>
              <a:rPr sz="1200" b="0" i="0">
                <a:solidFill>
                  <a:srgbClr val="5B6B7E"/>
                </a:solidFill>
                <a:latin typeface="Arial"/>
              </a:rPr>
              <a:t>  [1]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807208"/>
            <a:ext cx="5120640" cy="1298448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D5DEE8"/>
            </a:solidFill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2807208"/>
            <a:ext cx="237744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5DA8"/>
                </a:solidFill>
                <a:latin typeface="Arial"/>
              </a:rPr>
              <a:t>600 million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2807208"/>
            <a:ext cx="228600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344456"/>
                </a:solidFill>
                <a:latin typeface="Arial"/>
              </a:rPr>
              <a:t>Indians face high to extreme water stress</a:t>
            </a:r>
            <a:r>
              <a:rPr sz="1200" b="0" i="0">
                <a:solidFill>
                  <a:srgbClr val="5B6B7E"/>
                </a:solidFill>
                <a:latin typeface="Arial"/>
              </a:rPr>
              <a:t>  [2]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288536"/>
            <a:ext cx="5120640" cy="1298448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D5DEE8"/>
            </a:solidFill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68680" y="4288536"/>
            <a:ext cx="237744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5DA8"/>
                </a:solidFill>
                <a:latin typeface="Arial"/>
              </a:rPr>
              <a:t>2×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4288536"/>
            <a:ext cx="228600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344456"/>
                </a:solidFill>
                <a:latin typeface="Arial"/>
              </a:rPr>
              <a:t>India’s projected water demand vs supply by 2030</a:t>
            </a:r>
            <a:r>
              <a:rPr sz="1200" b="0" i="0">
                <a:solidFill>
                  <a:srgbClr val="5B6B7E"/>
                </a:solidFill>
                <a:latin typeface="Arial"/>
              </a:rPr>
              <a:t>  [2]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1325880"/>
            <a:ext cx="5212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F1B2A"/>
                </a:solidFill>
                <a:latin typeface="Arial"/>
              </a:rPr>
              <a:t>What households are missing</a:t>
            </a:r>
          </a:p>
        </p:txBody>
      </p:sp>
      <p:pic>
        <p:nvPicPr>
          <p:cNvPr id="31" name="Picture 30" descr="ic_eye-sl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20240"/>
            <a:ext cx="512064" cy="5120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040880" y="1920240"/>
            <a:ext cx="4572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0F1B2A"/>
                </a:solidFill>
                <a:latin typeface="Arial"/>
              </a:rPr>
              <a:t>No way to see usage against official norms</a:t>
            </a:r>
          </a:p>
        </p:txBody>
      </p:sp>
      <p:pic>
        <p:nvPicPr>
          <p:cNvPr id="33" name="Picture 32" descr="ic_question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706624"/>
            <a:ext cx="512064" cy="51206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040880" y="2706624"/>
            <a:ext cx="4572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0F1B2A"/>
                </a:solidFill>
                <a:latin typeface="Arial"/>
              </a:rPr>
              <a:t>No clear first steps when supply fails or turns unsafe</a:t>
            </a:r>
          </a:p>
        </p:txBody>
      </p:sp>
      <p:pic>
        <p:nvPicPr>
          <p:cNvPr id="35" name="Picture 34" descr="ic_chat-do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493008"/>
            <a:ext cx="512064" cy="51206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040880" y="3493008"/>
            <a:ext cx="4572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0F1B2A"/>
                </a:solidFill>
                <a:latin typeface="Arial"/>
              </a:rPr>
              <a:t>Society complaints scattered across calls and chats</a:t>
            </a:r>
          </a:p>
        </p:txBody>
      </p:sp>
      <p:pic>
        <p:nvPicPr>
          <p:cNvPr id="37" name="Picture 36" descr="ic_puzz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4279392"/>
            <a:ext cx="512064" cy="51206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040880" y="4279392"/>
            <a:ext cx="4572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0F1B2A"/>
                </a:solidFill>
                <a:latin typeface="Arial"/>
              </a:rPr>
              <a:t>No single portal linking awareness, advice and action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5138928"/>
            <a:ext cx="5212080" cy="640080"/>
          </a:xfrm>
          <a:prstGeom prst="roundRect">
            <a:avLst>
              <a:gd name="adj" fmla="val 8000"/>
            </a:avLst>
          </a:prstGeom>
          <a:solidFill>
            <a:srgbClr val="E7F1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537960" y="5138928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84A87"/>
                </a:solidFill>
                <a:latin typeface="Arial"/>
              </a:rPr>
              <a:t>AquaWise: </a:t>
            </a:r>
            <a:r>
              <a:rPr sz="1600" b="0" i="0">
                <a:solidFill>
                  <a:srgbClr val="084A87"/>
                </a:solidFill>
                <a:latin typeface="Arial"/>
              </a:rPr>
              <a:t>measure, advise and act in one portal</a:t>
            </a:r>
          </a:p>
        </p:txBody>
      </p:sp>
    </p:spTree>
    <p:extLst>
      <p:ext uri="{BB962C8B-B14F-4D97-AF65-F5344CB8AC3E}">
        <p14:creationId xmlns:p14="http://schemas.microsoft.com/office/powerpoint/2010/main" val="3000513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 txBox="1">
            <a:spLocks noGrp="1"/>
          </p:cNvSpPr>
          <p:nvPr>
            <p:ph type="ctrTitle"/>
          </p:nvPr>
        </p:nvSpPr>
        <p:spPr>
          <a:xfrm>
            <a:off x="1703512" y="404664"/>
            <a:ext cx="9144000" cy="722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</a:pPr>
            <a:r>
              <a:rPr lang="en-IN" sz="3200" dirty="0" b="1">
                <a:solidFill>
                  <a:srgbClr val="0F1B2A"/>
                </a:solidFill>
                <a:latin typeface="Arial"/>
              </a:rPr>
              <a:t>System Architecture</a:t>
            </a:r>
            <a:endParaRPr sz="3600" dirty="0"/>
          </a:p>
        </p:txBody>
      </p:sp>
      <p:sp>
        <p:nvSpPr>
          <p:cNvPr id="2" name="Google Shape;28;p6">
            <a:extLst>
              <a:ext uri="{FF2B5EF4-FFF2-40B4-BE49-F238E27FC236}">
                <a16:creationId xmlns="" xmlns:a16="http://schemas.microsoft.com/office/drawing/2014/main" id="{549F0C40-71EF-DDDF-2F69-F15733F9223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3" name="Google Shape;29;p6">
            <a:extLst>
              <a:ext uri="{FF2B5EF4-FFF2-40B4-BE49-F238E27FC236}">
                <a16:creationId xmlns="" xmlns:a16="http://schemas.microsoft.com/office/drawing/2014/main" id="{BD9EB9F3-ACCC-CA29-82D0-199936CB5A5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8" name="Google Shape;30;p6">
            <a:extLst>
              <a:ext uri="{FF2B5EF4-FFF2-40B4-BE49-F238E27FC236}">
                <a16:creationId xmlns="" xmlns:a16="http://schemas.microsoft.com/office/drawing/2014/main" id="{43F358E2-BE0A-24B2-4518-941E0E4D61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21" name="Picture 20" descr="arch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216152"/>
            <a:ext cx="11064240" cy="4633150"/>
          </a:xfrm>
          <a:prstGeom prst="rect">
            <a:avLst/>
          </a:prstGeom>
          <a:ln w="12700">
            <a:solidFill>
              <a:srgbClr val="D5DEE8"/>
            </a:solidFill>
          </a:ln>
        </p:spPr>
      </p:pic>
    </p:spTree>
    <p:extLst>
      <p:ext uri="{BB962C8B-B14F-4D97-AF65-F5344CB8AC3E}">
        <p14:creationId xmlns:p14="http://schemas.microsoft.com/office/powerpoint/2010/main" val="3000513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 txBox="1">
            <a:spLocks noGrp="1"/>
          </p:cNvSpPr>
          <p:nvPr>
            <p:ph type="ctrTitle"/>
          </p:nvPr>
        </p:nvSpPr>
        <p:spPr>
          <a:xfrm>
            <a:off x="1703512" y="404664"/>
            <a:ext cx="9144000" cy="722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</a:pPr>
            <a:r>
              <a:rPr lang="en-IN" sz="3200" dirty="0" b="1">
                <a:solidFill>
                  <a:srgbClr val="0F1B2A"/>
                </a:solidFill>
                <a:latin typeface="Arial"/>
              </a:rPr>
              <a:t>Features of the Designed System</a:t>
            </a:r>
            <a:endParaRPr sz="3600" dirty="0"/>
          </a:p>
        </p:txBody>
      </p:sp>
      <p:sp>
        <p:nvSpPr>
          <p:cNvPr id="2" name="Google Shape;28;p6">
            <a:extLst>
              <a:ext uri="{FF2B5EF4-FFF2-40B4-BE49-F238E27FC236}">
                <a16:creationId xmlns="" xmlns:a16="http://schemas.microsoft.com/office/drawing/2014/main" id="{549F0C40-71EF-DDDF-2F69-F15733F9223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3" name="Google Shape;29;p6">
            <a:extLst>
              <a:ext uri="{FF2B5EF4-FFF2-40B4-BE49-F238E27FC236}">
                <a16:creationId xmlns="" xmlns:a16="http://schemas.microsoft.com/office/drawing/2014/main" id="{BD9EB9F3-ACCC-CA29-82D0-199936CB5A5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8" name="Google Shape;30;p6">
            <a:extLst>
              <a:ext uri="{FF2B5EF4-FFF2-40B4-BE49-F238E27FC236}">
                <a16:creationId xmlns="" xmlns:a16="http://schemas.microsoft.com/office/drawing/2014/main" id="{43F358E2-BE0A-24B2-4518-941E0E4D61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658368" y="1234440"/>
            <a:ext cx="3520440" cy="461772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D5DEE8"/>
            </a:solidFill>
          </a:ln>
        </p:spPr>
        <p:txBody>
          <a:bodyPr rtlCol="0" anchor="ctr"/>
          <a:lstStyle/>
          <a:p/>
        </p:txBody>
      </p:sp>
      <p:pic>
        <p:nvPicPr>
          <p:cNvPr id="22" name="Picture 21" descr="ic_calc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389888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35607" y="1389888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B2A"/>
                </a:solidFill>
                <a:latin typeface="Arial"/>
              </a:rPr>
              <a:t>Water Usage Calculator</a:t>
            </a:r>
          </a:p>
        </p:txBody>
      </p:sp>
      <p:pic>
        <p:nvPicPr>
          <p:cNvPr id="24" name="Picture 23" descr="feat_cal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7" y="2011680"/>
            <a:ext cx="3154680" cy="2239940"/>
          </a:xfrm>
          <a:prstGeom prst="rect">
            <a:avLst/>
          </a:prstGeom>
          <a:ln w="12700">
            <a:solidFill>
              <a:srgbClr val="D5DEE8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886968" y="4452788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600"/>
              </a:spcAft>
              <a:buClr>
                <a:srgbClr val="0A5DA8"/>
              </a:buClr>
              <a:buFont typeface="Arial"/>
              <a:buChar char="•"/>
            </a:pPr>
            <a:r>
              <a:rPr sz="1400">
                <a:solidFill>
                  <a:srgbClr val="0F1B2A"/>
                </a:solidFill>
                <a:latin typeface="Arial"/>
              </a:rPr>
              <a:t>Litres per day by activity and per person</a:t>
            </a:r>
          </a:p>
          <a:p>
            <a:pPr marL="201168" indent="-201168">
              <a:spcAft>
                <a:spcPts val="600"/>
              </a:spcAft>
              <a:buClr>
                <a:srgbClr val="0A5DA8"/>
              </a:buClr>
              <a:buFont typeface="Arial"/>
              <a:buChar char="•"/>
            </a:pPr>
            <a:r>
              <a:rPr sz="1400">
                <a:solidFill>
                  <a:srgbClr val="0F1B2A"/>
                </a:solidFill>
                <a:latin typeface="Arial"/>
              </a:rPr>
              <a:t>Checks WHO and CPHEEO norms; flags over- and under-use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3128" y="1234440"/>
            <a:ext cx="3520440" cy="461772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D5DEE8"/>
            </a:solidFill>
          </a:ln>
        </p:spPr>
        <p:txBody>
          <a:bodyPr rtlCol="0" anchor="ctr"/>
          <a:lstStyle/>
          <a:p/>
        </p:txBody>
      </p:sp>
      <p:pic>
        <p:nvPicPr>
          <p:cNvPr id="27" name="Picture 26" descr="ic_life-pre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389888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230368" y="1389888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B2A"/>
                </a:solidFill>
                <a:latin typeface="Arial"/>
              </a:rPr>
              <a:t>Crisis Advisory Engine</a:t>
            </a:r>
          </a:p>
        </p:txBody>
      </p:sp>
      <p:pic>
        <p:nvPicPr>
          <p:cNvPr id="29" name="Picture 28" descr="feat_ad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2011680"/>
            <a:ext cx="3154680" cy="2235171"/>
          </a:xfrm>
          <a:prstGeom prst="rect">
            <a:avLst/>
          </a:prstGeom>
          <a:ln w="12700">
            <a:solidFill>
              <a:srgbClr val="D5DEE8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4681728" y="4448019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600"/>
              </a:spcAft>
              <a:buClr>
                <a:srgbClr val="0A5DA8"/>
              </a:buClr>
              <a:buFont typeface="Arial"/>
              <a:buChar char="•"/>
            </a:pPr>
            <a:r>
              <a:rPr sz="1400">
                <a:solidFill>
                  <a:srgbClr val="0F1B2A"/>
                </a:solidFill>
                <a:latin typeface="Arial"/>
              </a:rPr>
              <a:t>5 problems, 14 rules: ordered steps and contacts</a:t>
            </a:r>
          </a:p>
          <a:p>
            <a:pPr marL="201168" indent="-201168">
              <a:spcAft>
                <a:spcPts val="600"/>
              </a:spcAft>
              <a:buClr>
                <a:srgbClr val="0A5DA8"/>
              </a:buClr>
              <a:buFont typeface="Arial"/>
              <a:buChar char="•"/>
            </a:pPr>
            <a:r>
              <a:rPr sz="1400">
                <a:solidFill>
                  <a:srgbClr val="0F1B2A"/>
                </a:solidFill>
                <a:latin typeface="Arial"/>
              </a:rPr>
              <a:t>Critical cases show a one-tap 112 call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47888" y="1234440"/>
            <a:ext cx="3520440" cy="461772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D5DEE8"/>
            </a:solidFill>
          </a:ln>
        </p:spPr>
        <p:txBody>
          <a:bodyPr rtlCol="0" anchor="ctr"/>
          <a:lstStyle/>
          <a:p/>
        </p:txBody>
      </p:sp>
      <p:pic>
        <p:nvPicPr>
          <p:cNvPr id="32" name="Picture 31" descr="ic_buildin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1389888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025128" y="1389888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B2A"/>
                </a:solidFill>
                <a:latin typeface="Arial"/>
              </a:rPr>
              <a:t>Society Portal</a:t>
            </a:r>
          </a:p>
        </p:txBody>
      </p:sp>
      <p:pic>
        <p:nvPicPr>
          <p:cNvPr id="34" name="Picture 33" descr="feat_das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0768" y="2011680"/>
            <a:ext cx="3154680" cy="2238183"/>
          </a:xfrm>
          <a:prstGeom prst="rect">
            <a:avLst/>
          </a:prstGeom>
          <a:ln w="12700">
            <a:solidFill>
              <a:srgbClr val="D5DEE8"/>
            </a:solidFill>
          </a:ln>
        </p:spPr>
      </p:pic>
      <p:sp>
        <p:nvSpPr>
          <p:cNvPr id="35" name="TextBox 34"/>
          <p:cNvSpPr txBox="1"/>
          <p:nvPr/>
        </p:nvSpPr>
        <p:spPr>
          <a:xfrm>
            <a:off x="8476488" y="4451031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600"/>
              </a:spcAft>
              <a:buClr>
                <a:srgbClr val="0A5DA8"/>
              </a:buClr>
              <a:buFont typeface="Arial"/>
              <a:buChar char="•"/>
            </a:pPr>
            <a:r>
              <a:rPr sz="1400">
                <a:solidFill>
                  <a:srgbClr val="0F1B2A"/>
                </a:solidFill>
                <a:latin typeface="Arial"/>
              </a:rPr>
              <a:t>Join by society code; complaints auto-routed by type</a:t>
            </a:r>
          </a:p>
          <a:p>
            <a:pPr marL="201168" indent="-201168">
              <a:spcAft>
                <a:spcPts val="600"/>
              </a:spcAft>
              <a:buClr>
                <a:srgbClr val="0A5DA8"/>
              </a:buClr>
              <a:buFont typeface="Arial"/>
              <a:buChar char="•"/>
            </a:pPr>
            <a:r>
              <a:rPr sz="1400">
                <a:solidFill>
                  <a:srgbClr val="0F1B2A"/>
                </a:solidFill>
                <a:latin typeface="Arial"/>
              </a:rPr>
              <a:t>Dashboard tracks active, in-progress and resolved issues</a:t>
            </a:r>
          </a:p>
        </p:txBody>
      </p:sp>
    </p:spTree>
    <p:extLst>
      <p:ext uri="{BB962C8B-B14F-4D97-AF65-F5344CB8AC3E}">
        <p14:creationId xmlns:p14="http://schemas.microsoft.com/office/powerpoint/2010/main" val="3000513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 txBox="1">
            <a:spLocks noGrp="1"/>
          </p:cNvSpPr>
          <p:nvPr>
            <p:ph type="ctrTitle"/>
          </p:nvPr>
        </p:nvSpPr>
        <p:spPr>
          <a:xfrm>
            <a:off x="1703512" y="404664"/>
            <a:ext cx="9144000" cy="722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</a:pPr>
            <a:r>
              <a:rPr lang="en-IN" sz="3200" dirty="0" b="1">
                <a:solidFill>
                  <a:srgbClr val="0F1B2A"/>
                </a:solidFill>
                <a:latin typeface="Arial"/>
              </a:rPr>
              <a:t>Result, Conclusion and References</a:t>
            </a:r>
            <a:endParaRPr sz="3600" dirty="0"/>
          </a:p>
        </p:txBody>
      </p:sp>
      <p:sp>
        <p:nvSpPr>
          <p:cNvPr id="2" name="Google Shape;28;p6">
            <a:extLst>
              <a:ext uri="{FF2B5EF4-FFF2-40B4-BE49-F238E27FC236}">
                <a16:creationId xmlns="" xmlns:a16="http://schemas.microsoft.com/office/drawing/2014/main" id="{549F0C40-71EF-DDDF-2F69-F15733F9223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3" name="Google Shape;29;p6">
            <a:extLst>
              <a:ext uri="{FF2B5EF4-FFF2-40B4-BE49-F238E27FC236}">
                <a16:creationId xmlns="" xmlns:a16="http://schemas.microsoft.com/office/drawing/2014/main" id="{BD9EB9F3-ACCC-CA29-82D0-199936CB5A5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8" name="Google Shape;30;p6">
            <a:extLst>
              <a:ext uri="{FF2B5EF4-FFF2-40B4-BE49-F238E27FC236}">
                <a16:creationId xmlns="" xmlns:a16="http://schemas.microsoft.com/office/drawing/2014/main" id="{43F358E2-BE0A-24B2-4518-941E0E4D61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40080" y="123444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1B2A"/>
                </a:solidFill>
                <a:latin typeface="Arial"/>
              </a:rPr>
              <a:t>Results (design and prototype stage)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1691640"/>
            <a:ext cx="2103120" cy="178308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D5DEE8"/>
            </a:solidFill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04671" y="1810512"/>
            <a:ext cx="1828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A5DA8"/>
                </a:solidFill>
                <a:latin typeface="Arial"/>
              </a:rPr>
              <a:t>−14.7%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2514600"/>
            <a:ext cx="18105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44456"/>
                </a:solidFill>
                <a:latin typeface="Arial"/>
              </a:rPr>
              <a:t>per-person use with efficient fixtures (169.6 → 144.7 L)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1691640"/>
            <a:ext cx="2103120" cy="178308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D5DEE8"/>
            </a:solidFill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090672" y="1810512"/>
            <a:ext cx="1828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A5DA8"/>
                </a:solidFill>
                <a:latin typeface="Arial"/>
              </a:rPr>
              <a:t>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0672" y="2514600"/>
            <a:ext cx="18105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44456"/>
                </a:solidFill>
                <a:latin typeface="Arial"/>
              </a:rPr>
              <a:t>advisory rules covering 5 crisis types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0" y="1691640"/>
            <a:ext cx="2103120" cy="178308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D5DEE8"/>
            </a:solidFill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376672" y="1810512"/>
            <a:ext cx="1828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A5DA8"/>
                </a:solidFill>
                <a:latin typeface="Arial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76672" y="2514600"/>
            <a:ext cx="18105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44456"/>
                </a:solidFill>
                <a:latin typeface="Arial"/>
              </a:rPr>
              <a:t>responsive screens; all text meets WCAG AA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70332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1B2A"/>
                </a:solidFill>
                <a:latin typeface="Arial"/>
              </a:rPr>
              <a:t>Conclusion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33087"/>
            <a:ext cx="6675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  <a:buClr>
                <a:srgbClr val="0A5DA8"/>
              </a:buClr>
              <a:buFont typeface="Arial"/>
              <a:buChar char="•"/>
            </a:pPr>
            <a:r>
              <a:rPr sz="1600">
                <a:solidFill>
                  <a:srgbClr val="0F1B2A"/>
                </a:solidFill>
                <a:latin typeface="Arial"/>
              </a:rPr>
              <a:t>One portal links awareness, crisis advice and society action</a:t>
            </a:r>
          </a:p>
          <a:p>
            <a:pPr marL="201168" indent="-201168">
              <a:spcAft>
                <a:spcPts val="800"/>
              </a:spcAft>
              <a:buClr>
                <a:srgbClr val="0A5DA8"/>
              </a:buClr>
              <a:buFont typeface="Arial"/>
              <a:buChar char="•"/>
            </a:pPr>
            <a:r>
              <a:rPr sz="1600">
                <a:solidFill>
                  <a:srgbClr val="0F1B2A"/>
                </a:solidFill>
                <a:latin typeface="Arial"/>
              </a:rPr>
              <a:t>Sourced, rule-based logic keeps every number explainable</a:t>
            </a:r>
          </a:p>
          <a:p>
            <a:pPr marL="201168" indent="-201168">
              <a:spcAft>
                <a:spcPts val="800"/>
              </a:spcAft>
              <a:buClr>
                <a:srgbClr val="0A5DA8"/>
              </a:buClr>
              <a:buFont typeface="Arial"/>
              <a:buChar char="•"/>
            </a:pPr>
            <a:r>
              <a:rPr sz="1600">
                <a:solidFill>
                  <a:srgbClr val="0F1B2A"/>
                </a:solidFill>
                <a:latin typeface="Arial"/>
              </a:rPr>
              <a:t>Next: real usage data, SMS alerts, multilingual interface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1234440"/>
            <a:ext cx="3931920" cy="461772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D5DEE8"/>
            </a:solidFill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845552" y="1353312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B2A"/>
                </a:solidFill>
                <a:latin typeface="Arial"/>
              </a:rPr>
              <a:t>References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1783080"/>
            <a:ext cx="3566160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344456"/>
                </a:solidFill>
                <a:latin typeface="Arial"/>
              </a:rPr>
              <a:t>[1] WHO and UNICEF, “1 in 4 people globally still lack access to safe drinking water,” </a:t>
            </a:r>
            <a:r>
              <a:rPr sz="1100" b="0" i="1">
                <a:solidFill>
                  <a:srgbClr val="344456"/>
                </a:solidFill>
                <a:latin typeface="Arial"/>
              </a:rPr>
              <a:t>WHO News</a:t>
            </a:r>
            <a:r>
              <a:rPr sz="1100" b="0" i="0">
                <a:solidFill>
                  <a:srgbClr val="344456"/>
                </a:solidFill>
                <a:latin typeface="Arial"/>
              </a:rPr>
              <a:t>, Aug. 26, 2025. [Online]. Available: https://www.who.int/news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344456"/>
                </a:solidFill>
                <a:latin typeface="Arial"/>
              </a:rPr>
              <a:t>[2] NITI Aayog, “Composite Water Management Index,” Govt. of India, New Delhi, India, Rep., Jun. 2018.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344456"/>
                </a:solidFill>
                <a:latin typeface="Arial"/>
              </a:rPr>
              <a:t>[3] G. Howard and J. Bartram, </a:t>
            </a:r>
            <a:r>
              <a:rPr sz="1100" b="0" i="1">
                <a:solidFill>
                  <a:srgbClr val="344456"/>
                </a:solidFill>
                <a:latin typeface="Arial"/>
              </a:rPr>
              <a:t>Domestic Water Quantity, Service Level and Health</a:t>
            </a:r>
            <a:r>
              <a:rPr sz="1100" b="0" i="0">
                <a:solidFill>
                  <a:srgbClr val="344456"/>
                </a:solidFill>
                <a:latin typeface="Arial"/>
              </a:rPr>
              <a:t>. Geneva, Switzerland: WHO, 2003.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344456"/>
                </a:solidFill>
                <a:latin typeface="Arial"/>
              </a:rPr>
              <a:t>[4] CPHEEO, </a:t>
            </a:r>
            <a:r>
              <a:rPr sz="1100" b="0" i="1">
                <a:solidFill>
                  <a:srgbClr val="344456"/>
                </a:solidFill>
                <a:latin typeface="Arial"/>
              </a:rPr>
              <a:t>Manual on Water Supply and Treatment</a:t>
            </a:r>
            <a:r>
              <a:rPr sz="1100" b="0" i="0">
                <a:solidFill>
                  <a:srgbClr val="344456"/>
                </a:solidFill>
                <a:latin typeface="Arial"/>
              </a:rPr>
              <a:t>, 3rd ed. New Delhi, India: Ministry of Urban Development, 1999.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344456"/>
                </a:solidFill>
                <a:latin typeface="Arial"/>
              </a:rPr>
              <a:t>[5] Ministry of Jal Shakti, “Jal Jeevan Mission: Har Ghar Jal,” Govt. of India. [Online]. Available: https://jaljeevanmission.gov.in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344456"/>
                </a:solidFill>
                <a:latin typeface="Arial"/>
              </a:rPr>
              <a:t>[6] W. B. DeOreo et al., </a:t>
            </a:r>
            <a:r>
              <a:rPr sz="1100" b="0" i="1">
                <a:solidFill>
                  <a:srgbClr val="344456"/>
                </a:solidFill>
                <a:latin typeface="Arial"/>
              </a:rPr>
              <a:t>Residential End Uses of Water, Version 2</a:t>
            </a:r>
            <a:r>
              <a:rPr sz="1100" b="0" i="0">
                <a:solidFill>
                  <a:srgbClr val="344456"/>
                </a:solidFill>
                <a:latin typeface="Arial"/>
              </a:rPr>
              <a:t>. Denver, CO, USA: Water Research Foundation, 2016.</a:t>
            </a:r>
          </a:p>
        </p:txBody>
      </p:sp>
    </p:spTree>
    <p:extLst>
      <p:ext uri="{BB962C8B-B14F-4D97-AF65-F5344CB8AC3E}">
        <p14:creationId xmlns:p14="http://schemas.microsoft.com/office/powerpoint/2010/main" val="3000513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omaiya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22</Words>
  <Application>Microsoft Office PowerPoint</Application>
  <PresentationFormat>Custom</PresentationFormat>
  <Paragraphs>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Fira Sans</vt:lpstr>
      <vt:lpstr>Calibri</vt:lpstr>
      <vt:lpstr>Marcellus</vt:lpstr>
      <vt:lpstr>Times New Roman</vt:lpstr>
      <vt:lpstr>Office Theme</vt:lpstr>
      <vt:lpstr>Title</vt:lpstr>
      <vt:lpstr>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Pushpendra Kumar Dhansoia</dc:creator>
  <cp:lastModifiedBy>Admin</cp:lastModifiedBy>
  <cp:revision>6</cp:revision>
  <dcterms:created xsi:type="dcterms:W3CDTF">2022-02-21T05:08:08Z</dcterms:created>
  <dcterms:modified xsi:type="dcterms:W3CDTF">2025-10-04T06:37:24Z</dcterms:modified>
</cp:coreProperties>
</file>