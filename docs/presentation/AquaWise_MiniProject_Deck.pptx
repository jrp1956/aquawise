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61" r:id="rId2"/>
    <p:sldId id="262" r:id="rId3"/>
    <p:sldId id="266" r:id="rId24"/>
    <p:sldId id="265" r:id="rId23"/>
    <p:sldId id="264" r:id="rId22"/>
  </p:sldIdLst>
  <p:sldSz cx="12192000" cy="6858000"/>
  <p:notesSz cx="6858000" cy="9144000"/>
  <p:embeddedFontLst>
    <p:embeddedFont>
      <p:font typeface="Fira Sans" charset="0"/>
      <p:regular r:id="rId11"/>
    </p:embeddedFont>
    <p:embeddedFont>
      <p:font typeface="Calibri" pitchFamily="34" charset="0"/>
      <p:regular r:id="rId12"/>
      <p:bold r:id="rId13"/>
      <p:italic r:id="rId14"/>
      <p:boldItalic r:id="rId15"/>
    </p:embeddedFont>
    <p:embeddedFont>
      <p:font typeface="Marcellus" charset="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bWDH9BgynZPotlxacZXWgy2wV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1" d="100"/>
          <a:sy n="71" d="100"/>
        </p:scale>
        <p:origin x="-38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customschemas.google.com/relationships/presentationmetadata" Target="metadata"/><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5.xml"/><Relationship Id="rId23" Type="http://schemas.openxmlformats.org/officeDocument/2006/relationships/slide" Target="slides/slide4.xml"/><Relationship Id="rId2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395948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SAY (≈45 s)</a:t>
            </a:r>
          </a:p>
          <a:p>
            <a:r>
              <a:t>Good morning. We are [Name 1] and [Name 2] from TY EXCP-A; our guide is Prof. Sonia Joshi. Our project is AquaWise.</a:t>
            </a:r>
          </a:p>
          <a:p>
            <a:r>
              <a:t>Before the problem, look at the screenshot on the right. That is our running application, not a mock-up: a family of four in Mumbai, 678 litres a day, 169.55 per person, already flagged as above the city norm.</a:t>
            </a:r>
          </a:p>
          <a:p>
            <a:r>
              <a:t>The next four minutes are about three things: how we made that number trustworthy, what the family should do next, and who in their building should act on it. Three tools, one database, and a test behind every figure we show.</a:t>
            </a:r>
          </a:p>
          <a:p/>
          <a:p>
            <a:r>
              <a:t>LIKELY QUESTIONS</a:t>
            </a:r>
          </a:p>
          <a:p>
            <a:r>
              <a:t>Q1. Why put three tools in one project instead of doing one well?</a:t>
            </a:r>
          </a:p>
          <a:p>
            <a:r>
              <a:t>    → Each covers a different failure: not knowing your usage, not knowing the first step, not knowing who fixes it — they share one user, one society and one database.</a:t>
            </a:r>
          </a:p>
          <a:p>
            <a:r>
              <a:t>Q2. Which SDG 6 targets, exactly?</a:t>
            </a:r>
          </a:p>
          <a:p>
            <a:r>
              <a:t>    → 6.4 (water-use efficiency) through the calculator; 6.1 (safe drinking water) through the advisory and complaint routing.</a:t>
            </a:r>
          </a:p>
        </p:txBody>
      </p:sp>
      <p:sp>
        <p:nvSpPr>
          <p:cNvPr id="18" name="Google Shape;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SAY (≈45 s)</a:t>
            </a:r>
          </a:p>
          <a:p>
            <a:r>
              <a:t>Most water-awareness material tells everyone the same thing: save water. But a household cannot act on advice that is not about them.</a:t>
            </a:r>
          </a:p>
          <a:p>
            <a:r>
              <a:t>Look at the two ends of our scale. A family on tanker supply getting 50 litres per person is already below the Jal Jeevan Mission line. Telling them to take shorter showers is not just useless, it is wrong: their problem is supply. Our test household at 169.55 is the opposite case.</a:t>
            </a:r>
          </a:p>
          <a:p>
            <a:r>
              <a:t>So the calculator flags under-supply as well as over-use. And when something goes wrong at night, the next question is always: who do I call, and who in this building owns it?</a:t>
            </a:r>
          </a:p>
          <a:p/>
          <a:p>
            <a:r>
              <a:t>LIKELY QUESTIONS</a:t>
            </a:r>
          </a:p>
          <a:p>
            <a:r>
              <a:t>Q1. NITI Aayog’s index is from 2018 — is it still valid?</a:t>
            </a:r>
          </a:p>
          <a:p>
            <a:r>
              <a:t>    → It is the national baseline most studies still cite; we quote it with its year on the slide and would swap in a newer edition if you prefer.</a:t>
            </a:r>
          </a:p>
          <a:p>
            <a:r>
              <a:t>Q2. Why compare against 150 and not 135 lpcd?</a:t>
            </a:r>
          </a:p>
          <a:p>
            <a:r>
              <a:t>    → Mumbai is a metropolitan city with sewerage, where CPHEEO plans for 150; the user picks the city type and the norm switches to 135 or 70.</a:t>
            </a:r>
          </a:p>
        </p:txBody>
      </p:sp>
      <p:sp>
        <p:nvSpPr>
          <p:cNvPr id="18" name="Google Shape;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(≈45 s)</a:t>
            </a:r>
          </a:p>
          <a:p>
            <a:r>
              <a:t>The decision we would defend first is the shared folder.</a:t>
            </a:r>
          </a:p>
          <a:p>
            <a:r>
              <a:t>The calculator runs in the browser, so a guest gets an answer without an account. But when a logged-in user saves a result, the server cannot trust what the browser sent; anyone can edit a request. Writing the formulas twice, once in React and once in Express, works until someone changes a constant in only one copy.</a:t>
            </a:r>
          </a:p>
          <a:p>
            <a:r>
              <a:t>So the formulas and the advisory rules live in one folder that both sides import. Our API test sends a forged total; the server discards it, recomputes and stores its own figure. The numbered arrows show a request's path.</a:t>
            </a:r>
          </a:p>
          <a:p/>
          <a:p>
            <a:r>
              <a:t>LIKELY QUESTIONS</a:t>
            </a:r>
          </a:p>
          <a:p>
            <a:r>
              <a:t>Q1. Why server-side sessions instead of JWT?</a:t>
            </a:r>
          </a:p>
          <a:p>
            <a:r>
              <a:t>    → Our syllabus specifies session-based auth, and a server session can be destroyed — TC-API-06 shows /me returns 401 straight after logout.</a:t>
            </a:r>
          </a:p>
          <a:p>
            <a:r>
              <a:t>Q2. If the maths runs in the browser, can’t a user fake a saved result?</a:t>
            </a:r>
          </a:p>
          <a:p>
            <a:r>
              <a:t>    → No: the server recomputes from the inputs and ignores any results field — TC-API-24 sends a forged total and asserts it was discarded.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(≈45 s)</a:t>
            </a:r>
          </a:p>
          <a:p>
            <a:r>
              <a:t>Each tool ends with something a person can do today.</a:t>
            </a:r>
          </a:p>
          <a:p>
            <a:r>
              <a:t>The calculator ranks where the litres go and prices the fix: for our test household, a WaterSense shower head alone saves about 59 litres a day.</a:t>
            </a:r>
          </a:p>
          <a:p>
            <a:r>
              <a:t>The advisory engine asks at most three questions. Burst pipe, water near the switches: rule LK-3, critical. The 112 banner comes first, then six steps in fixed order, then the society admin's real number, because this user is a member.</a:t>
            </a:r>
          </a:p>
          <a:p>
            <a:r>
              <a:t>And the portal routes by category. Complaint 0004 was about drinking water, so it went to Priya Nair, who handles tanks and water quality, not to the secretary. Every status change is kept.</a:t>
            </a:r>
          </a:p>
          <a:p/>
          <a:p>
            <a:r>
              <a:t>LIKELY QUESTIONS</a:t>
            </a:r>
          </a:p>
          <a:p>
            <a:r>
              <a:t>Q1. Why rules and not machine learning for the advisory?</a:t>
            </a:r>
          </a:p>
          <a:p>
            <a:r>
              <a:t>    → Safety advice has to be predictable and auditable; each of the 14 rules is a JSON record with a unit test, and we have no labelled data to train on.</a:t>
            </a:r>
          </a:p>
          <a:p>
            <a:r>
              <a:t>Q2. What happens if no contact handles a complaint’s category?</a:t>
            </a:r>
          </a:p>
          <a:p>
            <a:r>
              <a:t>    → It falls back to the society admin, so nothing is ever unassigned — TC-API-14.</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(≈45 s)</a:t>
            </a:r>
          </a:p>
          <a:p>
            <a:r>
              <a:t>The result we trust most is the test suite, because we can rerun it in front of you: fifty-two automated tests, twenty-three on the pure logic and twenty-nine that drive the real API, including every permission check.</a:t>
            </a:r>
          </a:p>
          <a:p>
            <a:r>
              <a:t>The more useful part is the defect list. Six defects, all found by tests or a scripted run-through. The first mattered most: a misspelt constant turned every total into "not a number". The test caught it only because the expected 678.18 came from our requirements, worked by hand.</a:t>
            </a:r>
          </a:p>
          <a:p>
            <a:r>
              <a:t>Next, we want verified helplines beyond Mumbai and Indian fixture data instead of US figures. Thank you; we are happy to take questions.</a:t>
            </a:r>
          </a:p>
          <a:p/>
          <a:p>
            <a:r>
              <a:t>LIKELY QUESTIONS</a:t>
            </a:r>
          </a:p>
          <a:p>
            <a:r>
              <a:t>Q1. Didn’t you write the tests to match your own code?</a:t>
            </a:r>
          </a:p>
          <a:p>
            <a:r>
              <a:t>    → The expected values come from the requirements document, calculated by hand — which is exactly how defect D1 was caught.</a:t>
            </a:r>
          </a:p>
          <a:p>
            <a:r>
              <a:t>Q2. What about the manual test cases?</a:t>
            </a:r>
          </a:p>
          <a:p>
            <a:r>
              <a:t>    → Eighteen are listed in docs/testing.md; six are recorded as passing so far (including 360 px layout and all three end-to-end flows), and we complete the rest in the demo run-through.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5" name="Google Shape;15;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4D4D4C"/>
              </a:buClr>
              <a:buSzPts val="2400"/>
              <a:buNone/>
              <a:defRPr sz="2400"/>
            </a:lvl1pPr>
            <a:lvl2pPr lvl="1" algn="ctr">
              <a:lnSpc>
                <a:spcPct val="90000"/>
              </a:lnSpc>
              <a:spcBef>
                <a:spcPts val="500"/>
              </a:spcBef>
              <a:spcAft>
                <a:spcPts val="0"/>
              </a:spcAft>
              <a:buClr>
                <a:srgbClr val="4D4D4C"/>
              </a:buClr>
              <a:buSzPts val="2000"/>
              <a:buNone/>
              <a:defRPr sz="2000"/>
            </a:lvl2pPr>
            <a:lvl3pPr lvl="2" algn="ctr">
              <a:lnSpc>
                <a:spcPct val="90000"/>
              </a:lnSpc>
              <a:spcBef>
                <a:spcPts val="500"/>
              </a:spcBef>
              <a:spcAft>
                <a:spcPts val="0"/>
              </a:spcAft>
              <a:buClr>
                <a:srgbClr val="4D4D4C"/>
              </a:buClr>
              <a:buSzPts val="1800"/>
              <a:buNone/>
              <a:defRPr sz="1800"/>
            </a:lvl3pPr>
            <a:lvl4pPr lvl="3" algn="ctr">
              <a:lnSpc>
                <a:spcPct val="90000"/>
              </a:lnSpc>
              <a:spcBef>
                <a:spcPts val="500"/>
              </a:spcBef>
              <a:spcAft>
                <a:spcPts val="0"/>
              </a:spcAft>
              <a:buClr>
                <a:srgbClr val="4D4D4C"/>
              </a:buClr>
              <a:buSzPts val="1600"/>
              <a:buNone/>
              <a:defRPr sz="1600"/>
            </a:lvl4pPr>
            <a:lvl5pPr lvl="4" algn="ctr">
              <a:lnSpc>
                <a:spcPct val="90000"/>
              </a:lnSpc>
              <a:spcBef>
                <a:spcPts val="500"/>
              </a:spcBef>
              <a:spcAft>
                <a:spcPts val="0"/>
              </a:spcAft>
              <a:buClr>
                <a:srgbClr val="4D4D4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 name="Google Shape;28;p6">
            <a:extLst>
              <a:ext uri="{FF2B5EF4-FFF2-40B4-BE49-F238E27FC236}">
                <a16:creationId xmlns="" xmlns:a16="http://schemas.microsoft.com/office/drawing/2014/main" id="{6F93FA11-668E-5D27-6486-F2A3F91F37DD}"/>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A7B1C99D-C4D1-45FD-111D-769C26834B4B}"/>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2994A560-18DD-F7FA-6DD2-C82499042282}"/>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6"/>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26" name="Google Shape;26;p6"/>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8" name="Google Shape;28;p6"/>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29" name="Google Shape;29;p6"/>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0" name="Google Shape;30;p6"/>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3"/>
        <p:cNvGrpSpPr/>
        <p:nvPr/>
      </p:nvGrpSpPr>
      <p:grpSpPr>
        <a:xfrm>
          <a:off x="0" y="0"/>
          <a:ext cx="0" cy="0"/>
          <a:chOff x="0" y="0"/>
          <a:chExt cx="0" cy="0"/>
        </a:xfrm>
      </p:grpSpPr>
      <p:sp>
        <p:nvSpPr>
          <p:cNvPr id="37" name="Google Shape;37;p12"/>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3200"/>
              <a:buFont typeface="Marcellu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4D4D4C"/>
              </a:buClr>
              <a:buSzPts val="3200"/>
              <a:buChar char="•"/>
              <a:defRPr sz="3200"/>
            </a:lvl1pPr>
            <a:lvl2pPr marL="914400" lvl="1" indent="-406400" algn="l">
              <a:lnSpc>
                <a:spcPct val="90000"/>
              </a:lnSpc>
              <a:spcBef>
                <a:spcPts val="500"/>
              </a:spcBef>
              <a:spcAft>
                <a:spcPts val="0"/>
              </a:spcAft>
              <a:buClr>
                <a:srgbClr val="4D4D4C"/>
              </a:buClr>
              <a:buSzPts val="2800"/>
              <a:buChar char="•"/>
              <a:defRPr sz="2800"/>
            </a:lvl2pPr>
            <a:lvl3pPr marL="1371600" lvl="2" indent="-381000" algn="l">
              <a:lnSpc>
                <a:spcPct val="90000"/>
              </a:lnSpc>
              <a:spcBef>
                <a:spcPts val="500"/>
              </a:spcBef>
              <a:spcAft>
                <a:spcPts val="0"/>
              </a:spcAft>
              <a:buClr>
                <a:srgbClr val="4D4D4C"/>
              </a:buClr>
              <a:buSzPts val="2400"/>
              <a:buChar char="•"/>
              <a:defRPr sz="2400"/>
            </a:lvl3pPr>
            <a:lvl4pPr marL="1828800" lvl="3" indent="-355600" algn="l">
              <a:lnSpc>
                <a:spcPct val="90000"/>
              </a:lnSpc>
              <a:spcBef>
                <a:spcPts val="500"/>
              </a:spcBef>
              <a:spcAft>
                <a:spcPts val="0"/>
              </a:spcAft>
              <a:buClr>
                <a:srgbClr val="4D4D4C"/>
              </a:buClr>
              <a:buSzPts val="2000"/>
              <a:buChar char="•"/>
              <a:defRPr sz="2000"/>
            </a:lvl4pPr>
            <a:lvl5pPr marL="2286000" lvl="4" indent="-355600" algn="l">
              <a:lnSpc>
                <a:spcPct val="90000"/>
              </a:lnSpc>
              <a:spcBef>
                <a:spcPts val="500"/>
              </a:spcBef>
              <a:spcAft>
                <a:spcPts val="0"/>
              </a:spcAft>
              <a:buClr>
                <a:srgbClr val="4D4D4C"/>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9" name="Google Shape;39;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4D4D4C"/>
              </a:buClr>
              <a:buSzPts val="1600"/>
              <a:buNone/>
              <a:defRPr sz="1600"/>
            </a:lvl1pPr>
            <a:lvl2pPr marL="914400" lvl="1" indent="-228600" algn="l">
              <a:lnSpc>
                <a:spcPct val="90000"/>
              </a:lnSpc>
              <a:spcBef>
                <a:spcPts val="500"/>
              </a:spcBef>
              <a:spcAft>
                <a:spcPts val="0"/>
              </a:spcAft>
              <a:buClr>
                <a:srgbClr val="4D4D4C"/>
              </a:buClr>
              <a:buSzPts val="1400"/>
              <a:buNone/>
              <a:defRPr sz="1400"/>
            </a:lvl2pPr>
            <a:lvl3pPr marL="1371600" lvl="2" indent="-228600" algn="l">
              <a:lnSpc>
                <a:spcPct val="90000"/>
              </a:lnSpc>
              <a:spcBef>
                <a:spcPts val="500"/>
              </a:spcBef>
              <a:spcAft>
                <a:spcPts val="0"/>
              </a:spcAft>
              <a:buClr>
                <a:srgbClr val="4D4D4C"/>
              </a:buClr>
              <a:buSzPts val="1200"/>
              <a:buNone/>
              <a:defRPr sz="1200"/>
            </a:lvl3pPr>
            <a:lvl4pPr marL="1828800" lvl="3" indent="-228600" algn="l">
              <a:lnSpc>
                <a:spcPct val="90000"/>
              </a:lnSpc>
              <a:spcBef>
                <a:spcPts val="500"/>
              </a:spcBef>
              <a:spcAft>
                <a:spcPts val="0"/>
              </a:spcAft>
              <a:buClr>
                <a:srgbClr val="4D4D4C"/>
              </a:buClr>
              <a:buSzPts val="1000"/>
              <a:buNone/>
              <a:defRPr sz="1000"/>
            </a:lvl4pPr>
            <a:lvl5pPr marL="2286000" lvl="4" indent="-228600" algn="l">
              <a:lnSpc>
                <a:spcPct val="90000"/>
              </a:lnSpc>
              <a:spcBef>
                <a:spcPts val="500"/>
              </a:spcBef>
              <a:spcAft>
                <a:spcPts val="0"/>
              </a:spcAft>
              <a:buClr>
                <a:srgbClr val="4D4D4C"/>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 name="Google Shape;28;p6">
            <a:extLst>
              <a:ext uri="{FF2B5EF4-FFF2-40B4-BE49-F238E27FC236}">
                <a16:creationId xmlns="" xmlns:a16="http://schemas.microsoft.com/office/drawing/2014/main" id="{45C52928-2C50-1A5B-EE93-8F4D4C23D2A1}"/>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26B1B699-1655-BFF4-3EEC-1A8B6C6CF2B7}"/>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C1EA1705-04BF-7289-C7D1-4935077A8E34}"/>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5"/>
        <p:cNvGrpSpPr/>
        <p:nvPr/>
      </p:nvGrpSpPr>
      <p:grpSpPr>
        <a:xfrm>
          <a:off x="0" y="0"/>
          <a:ext cx="0" cy="0"/>
          <a:chOff x="0" y="0"/>
          <a:chExt cx="0" cy="0"/>
        </a:xfrm>
      </p:grpSpPr>
      <p:sp>
        <p:nvSpPr>
          <p:cNvPr id="49" name="Google Shape;49;p13"/>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3200"/>
              <a:buFont typeface="Marcellu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3"/>
          <p:cNvSpPr>
            <a:spLocks noGrp="1"/>
          </p:cNvSpPr>
          <p:nvPr>
            <p:ph type="pic" idx="2"/>
          </p:nvPr>
        </p:nvSpPr>
        <p:spPr>
          <a:xfrm>
            <a:off x="5183188" y="987425"/>
            <a:ext cx="6172200" cy="4873625"/>
          </a:xfrm>
          <a:prstGeom prst="rect">
            <a:avLst/>
          </a:prstGeom>
          <a:noFill/>
          <a:ln>
            <a:noFill/>
          </a:ln>
        </p:spPr>
      </p:sp>
      <p:sp>
        <p:nvSpPr>
          <p:cNvPr id="51" name="Google Shape;51;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4D4D4C"/>
              </a:buClr>
              <a:buSzPts val="1600"/>
              <a:buNone/>
              <a:defRPr sz="1600"/>
            </a:lvl1pPr>
            <a:lvl2pPr marL="914400" lvl="1" indent="-228600" algn="l">
              <a:lnSpc>
                <a:spcPct val="90000"/>
              </a:lnSpc>
              <a:spcBef>
                <a:spcPts val="500"/>
              </a:spcBef>
              <a:spcAft>
                <a:spcPts val="0"/>
              </a:spcAft>
              <a:buClr>
                <a:srgbClr val="4D4D4C"/>
              </a:buClr>
              <a:buSzPts val="1400"/>
              <a:buNone/>
              <a:defRPr sz="1400"/>
            </a:lvl2pPr>
            <a:lvl3pPr marL="1371600" lvl="2" indent="-228600" algn="l">
              <a:lnSpc>
                <a:spcPct val="90000"/>
              </a:lnSpc>
              <a:spcBef>
                <a:spcPts val="500"/>
              </a:spcBef>
              <a:spcAft>
                <a:spcPts val="0"/>
              </a:spcAft>
              <a:buClr>
                <a:srgbClr val="4D4D4C"/>
              </a:buClr>
              <a:buSzPts val="1200"/>
              <a:buNone/>
              <a:defRPr sz="1200"/>
            </a:lvl3pPr>
            <a:lvl4pPr marL="1828800" lvl="3" indent="-228600" algn="l">
              <a:lnSpc>
                <a:spcPct val="90000"/>
              </a:lnSpc>
              <a:spcBef>
                <a:spcPts val="500"/>
              </a:spcBef>
              <a:spcAft>
                <a:spcPts val="0"/>
              </a:spcAft>
              <a:buClr>
                <a:srgbClr val="4D4D4C"/>
              </a:buClr>
              <a:buSzPts val="1000"/>
              <a:buNone/>
              <a:defRPr sz="1000"/>
            </a:lvl4pPr>
            <a:lvl5pPr marL="2286000" lvl="4" indent="-228600" algn="l">
              <a:lnSpc>
                <a:spcPct val="90000"/>
              </a:lnSpc>
              <a:spcBef>
                <a:spcPts val="500"/>
              </a:spcBef>
              <a:spcAft>
                <a:spcPts val="0"/>
              </a:spcAft>
              <a:buClr>
                <a:srgbClr val="4D4D4C"/>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 name="Google Shape;28;p6">
            <a:extLst>
              <a:ext uri="{FF2B5EF4-FFF2-40B4-BE49-F238E27FC236}">
                <a16:creationId xmlns="" xmlns:a16="http://schemas.microsoft.com/office/drawing/2014/main" id="{A5A530D4-7988-DD93-1F79-72D4E4A7AE5A}"/>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40917687-04A8-9A80-5C70-899E54DC2398}"/>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7567F952-39E5-337F-9349-50B557408F86}"/>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 xmlns:a16="http://schemas.microsoft.com/office/drawing/2014/main" id="{3BE4EE66-95F2-11F6-05EA-E5792929E648}"/>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CD790172-54B1-1878-459A-282E99A7FB4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04871C75-B572-7CC7-1B53-358A4FEE2491}"/>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3" name="Google Shape;73;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 name="Google Shape;28;p6">
            <a:extLst>
              <a:ext uri="{FF2B5EF4-FFF2-40B4-BE49-F238E27FC236}">
                <a16:creationId xmlns="" xmlns:a16="http://schemas.microsoft.com/office/drawing/2014/main" id="{5D40BE01-A796-ADDE-1067-A85126FB981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C5F09E59-F1FA-4758-8DEB-A7EB3912E75F}"/>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6FC11D24-EC12-A80C-ADB8-D5E74CECE372}"/>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0"/>
        <p:cNvGrpSpPr/>
        <p:nvPr/>
      </p:nvGrpSpPr>
      <p:grpSpPr>
        <a:xfrm>
          <a:off x="0" y="0"/>
          <a:ext cx="0" cy="0"/>
          <a:chOff x="0" y="0"/>
          <a:chExt cx="0" cy="0"/>
        </a:xfrm>
      </p:grpSpPr>
      <p:sp>
        <p:nvSpPr>
          <p:cNvPr id="84" name="Google Shape;84;p9"/>
          <p:cNvSpPr txBox="1">
            <a:spLocks noGrp="1"/>
          </p:cNvSpPr>
          <p:nvPr>
            <p:ph type="title"/>
          </p:nvPr>
        </p:nvSpPr>
        <p:spPr>
          <a:xfrm>
            <a:off x="839788" y="866776"/>
            <a:ext cx="10515600" cy="8239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4D4D4C"/>
              </a:buClr>
              <a:buSzPts val="2400"/>
              <a:buNone/>
              <a:defRPr sz="2400" b="1"/>
            </a:lvl1pPr>
            <a:lvl2pPr marL="914400" lvl="1" indent="-228600" algn="l">
              <a:lnSpc>
                <a:spcPct val="90000"/>
              </a:lnSpc>
              <a:spcBef>
                <a:spcPts val="500"/>
              </a:spcBef>
              <a:spcAft>
                <a:spcPts val="0"/>
              </a:spcAft>
              <a:buClr>
                <a:srgbClr val="4D4D4C"/>
              </a:buClr>
              <a:buSzPts val="2000"/>
              <a:buNone/>
              <a:defRPr sz="2000" b="1"/>
            </a:lvl2pPr>
            <a:lvl3pPr marL="1371600" lvl="2" indent="-228600" algn="l">
              <a:lnSpc>
                <a:spcPct val="90000"/>
              </a:lnSpc>
              <a:spcBef>
                <a:spcPts val="500"/>
              </a:spcBef>
              <a:spcAft>
                <a:spcPts val="0"/>
              </a:spcAft>
              <a:buClr>
                <a:srgbClr val="4D4D4C"/>
              </a:buClr>
              <a:buSzPts val="1800"/>
              <a:buNone/>
              <a:defRPr sz="1800" b="1"/>
            </a:lvl3pPr>
            <a:lvl4pPr marL="1828800" lvl="3" indent="-228600" algn="l">
              <a:lnSpc>
                <a:spcPct val="90000"/>
              </a:lnSpc>
              <a:spcBef>
                <a:spcPts val="500"/>
              </a:spcBef>
              <a:spcAft>
                <a:spcPts val="0"/>
              </a:spcAft>
              <a:buClr>
                <a:srgbClr val="4D4D4C"/>
              </a:buClr>
              <a:buSzPts val="1600"/>
              <a:buNone/>
              <a:defRPr sz="1600" b="1"/>
            </a:lvl4pPr>
            <a:lvl5pPr marL="2286000" lvl="4" indent="-228600" algn="l">
              <a:lnSpc>
                <a:spcPct val="90000"/>
              </a:lnSpc>
              <a:spcBef>
                <a:spcPts val="500"/>
              </a:spcBef>
              <a:spcAft>
                <a:spcPts val="0"/>
              </a:spcAft>
              <a:buClr>
                <a:srgbClr val="4D4D4C"/>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6" name="Google Shape;86;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4D4D4C"/>
              </a:buClr>
              <a:buSzPts val="2400"/>
              <a:buNone/>
              <a:defRPr sz="2400" b="1"/>
            </a:lvl1pPr>
            <a:lvl2pPr marL="914400" lvl="1" indent="-228600" algn="l">
              <a:lnSpc>
                <a:spcPct val="90000"/>
              </a:lnSpc>
              <a:spcBef>
                <a:spcPts val="500"/>
              </a:spcBef>
              <a:spcAft>
                <a:spcPts val="0"/>
              </a:spcAft>
              <a:buClr>
                <a:srgbClr val="4D4D4C"/>
              </a:buClr>
              <a:buSzPts val="2000"/>
              <a:buNone/>
              <a:defRPr sz="2000" b="1"/>
            </a:lvl2pPr>
            <a:lvl3pPr marL="1371600" lvl="2" indent="-228600" algn="l">
              <a:lnSpc>
                <a:spcPct val="90000"/>
              </a:lnSpc>
              <a:spcBef>
                <a:spcPts val="500"/>
              </a:spcBef>
              <a:spcAft>
                <a:spcPts val="0"/>
              </a:spcAft>
              <a:buClr>
                <a:srgbClr val="4D4D4C"/>
              </a:buClr>
              <a:buSzPts val="1800"/>
              <a:buNone/>
              <a:defRPr sz="1800" b="1"/>
            </a:lvl3pPr>
            <a:lvl4pPr marL="1828800" lvl="3" indent="-228600" algn="l">
              <a:lnSpc>
                <a:spcPct val="90000"/>
              </a:lnSpc>
              <a:spcBef>
                <a:spcPts val="500"/>
              </a:spcBef>
              <a:spcAft>
                <a:spcPts val="0"/>
              </a:spcAft>
              <a:buClr>
                <a:srgbClr val="4D4D4C"/>
              </a:buClr>
              <a:buSzPts val="1600"/>
              <a:buNone/>
              <a:defRPr sz="1600" b="1"/>
            </a:lvl4pPr>
            <a:lvl5pPr marL="2286000" lvl="4" indent="-228600" algn="l">
              <a:lnSpc>
                <a:spcPct val="90000"/>
              </a:lnSpc>
              <a:spcBef>
                <a:spcPts val="500"/>
              </a:spcBef>
              <a:spcAft>
                <a:spcPts val="0"/>
              </a:spcAft>
              <a:buClr>
                <a:srgbClr val="4D4D4C"/>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 xmlns:a16="http://schemas.microsoft.com/office/drawing/2014/main" id="{213AF292-09D4-0240-9F52-B3CE283D1964}"/>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20A4B550-7FFA-C52B-9952-E28A393DD0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2BC36ECE-C3D1-09DD-489B-CE38B065731B}"/>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8" name="Google Shape;98;p10"/>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 name="Google Shape;28;p6">
            <a:extLst>
              <a:ext uri="{FF2B5EF4-FFF2-40B4-BE49-F238E27FC236}">
                <a16:creationId xmlns="" xmlns:a16="http://schemas.microsoft.com/office/drawing/2014/main" id="{EABDB97A-1573-9AE9-7909-28C3E654614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184D9332-35CA-F8DE-8CC6-B575CA7CBF52}"/>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0179A92C-6424-95BD-C452-01B2896127F2}"/>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
        <p:nvSpPr>
          <p:cNvPr id="3" name="Google Shape;28;p6">
            <a:extLst>
              <a:ext uri="{FF2B5EF4-FFF2-40B4-BE49-F238E27FC236}">
                <a16:creationId xmlns="" xmlns:a16="http://schemas.microsoft.com/office/drawing/2014/main" id="{1E9D295B-756D-94F6-FA62-BAFD6BC1D42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80AB6F56-86EA-513F-E160-6DD1EE9C47BE}"/>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0A8BF585-0ABE-47EC-65FA-540F276B8A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7" name="Google Shape;117;p14"/>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18" name="Google Shape;118;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 xmlns:a16="http://schemas.microsoft.com/office/drawing/2014/main" id="{92DB2441-62E7-3832-5EE5-42D43B0B9145}"/>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D868530D-AFB3-4C01-7548-464E74FEE2D4}"/>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A663D57F-09FB-1768-75C6-36B36B9856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 Id="rId13"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2" name="Google Shape;12;p5">
            <a:extLst>
              <a:ext uri="{FF2B5EF4-FFF2-40B4-BE49-F238E27FC236}">
                <a16:creationId xmlns="" xmlns:a16="http://schemas.microsoft.com/office/drawing/2014/main" id="{44909106-E9FD-B340-07F3-E7E43E0C87E5}"/>
              </a:ext>
            </a:extLst>
          </p:cNvPr>
          <p:cNvSpPr/>
          <p:nvPr userDrawn="1"/>
        </p:nvSpPr>
        <p:spPr>
          <a:xfrm>
            <a:off x="0" y="6080760"/>
            <a:ext cx="838200" cy="79049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13;p5">
            <a:extLst>
              <a:ext uri="{FF2B5EF4-FFF2-40B4-BE49-F238E27FC236}">
                <a16:creationId xmlns="" xmlns:a16="http://schemas.microsoft.com/office/drawing/2014/main" id="{EAAF044C-1D0D-0CFE-1234-30E94B876495}"/>
              </a:ext>
            </a:extLst>
          </p:cNvPr>
          <p:cNvSpPr/>
          <p:nvPr userDrawn="1"/>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4" name="Google Shape;14;p5">
            <a:extLst>
              <a:ext uri="{FF2B5EF4-FFF2-40B4-BE49-F238E27FC236}">
                <a16:creationId xmlns="" xmlns:a16="http://schemas.microsoft.com/office/drawing/2014/main" id="{5526ECCB-9585-9619-412C-AF7D491C3AAD}"/>
              </a:ext>
            </a:extLst>
          </p:cNvPr>
          <p:cNvSpPr/>
          <p:nvPr userDrawn="1"/>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pic>
        <p:nvPicPr>
          <p:cNvPr id="5" name="Google Shape;21;p5" descr="Graphical user interface, text, application&#10;&#10;Description automatically generated">
            <a:extLst>
              <a:ext uri="{FF2B5EF4-FFF2-40B4-BE49-F238E27FC236}">
                <a16:creationId xmlns="" xmlns:a16="http://schemas.microsoft.com/office/drawing/2014/main" id="{93B2F81F-E84E-30FC-261A-95AAEEBA8CF0}"/>
              </a:ext>
            </a:extLst>
          </p:cNvPr>
          <p:cNvPicPr preferRelativeResize="0"/>
          <p:nvPr userDrawn="1"/>
        </p:nvPicPr>
        <p:blipFill rotWithShape="1">
          <a:blip r:embed="rId12">
            <a:alphaModFix/>
          </a:blip>
          <a:srcRect/>
          <a:stretch/>
        </p:blipFill>
        <p:spPr>
          <a:xfrm>
            <a:off x="11124596" y="226123"/>
            <a:ext cx="728472" cy="539609"/>
          </a:xfrm>
          <a:prstGeom prst="rect">
            <a:avLst/>
          </a:prstGeom>
          <a:noFill/>
          <a:ln>
            <a:noFill/>
          </a:ln>
        </p:spPr>
      </p:pic>
      <p:pic>
        <p:nvPicPr>
          <p:cNvPr id="6" name="Picture 5"/>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93862" y="141576"/>
            <a:ext cx="2316256" cy="708705"/>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txBox="1">
            <a:spLocks noGrp="1"/>
          </p:cNvSpPr>
          <p:nvPr>
            <p:ph type="ctrTitle"/>
          </p:nvPr>
        </p:nvSpPr>
        <p:spPr>
          <a:xfrm>
            <a:off x="548640" y="1188720"/>
            <a:ext cx="7498079" cy="731520"/>
          </a:xfrm>
          <a:prstGeom prst="rect">
            <a:avLst/>
          </a:prstGeom>
          <a:noFill/>
          <a:ln>
            <a:noFill/>
          </a:ln>
        </p:spPr>
        <p:txBody>
          <a:bodyPr spcFirstLastPara="1" wrap="square" lIns="0" tIns="45700" rIns="0" bIns="45700" anchor="b" anchorCtr="0">
            <a:noAutofit/>
          </a:bodyPr>
          <a:lstStyle/>
          <a:p>
            <a:pPr marL="0" lvl="0" indent="0" algn="l" rtl="0">
              <a:lnSpc>
                <a:spcPct val="90000"/>
              </a:lnSpc>
              <a:spcBef>
                <a:spcPts val="0"/>
              </a:spcBef>
              <a:spcAft>
                <a:spcPts val="0"/>
              </a:spcAft>
              <a:buClr>
                <a:srgbClr val="A42530"/>
              </a:buClr>
              <a:buSzPts val="6000"/>
              <a:buFont typeface="Marcellus"/>
              <a:buNone/>
            </a:pPr>
            <a:r>
              <a:rPr lang="en-IN" sz="4400" dirty="0" b="1">
                <a:solidFill>
                  <a:srgbClr val="000000"/>
                </a:solidFill>
                <a:latin typeface="Arial"/>
              </a:rPr>
              <a:t>AquaWise</a:t>
            </a:r>
            <a:endParaRPr dirty="0"/>
          </a:p>
        </p:txBody>
      </p:sp>
      <p:sp>
        <p:nvSpPr>
          <p:cNvPr id="21" name="Google Shape;21;p1"/>
          <p:cNvSpPr txBox="1">
            <a:spLocks noGrp="1"/>
          </p:cNvSpPr>
          <p:nvPr>
            <p:ph type="subTitle" idx="1"/>
          </p:nvPr>
        </p:nvSpPr>
        <p:spPr>
          <a:xfrm>
            <a:off x="548640" y="1938528"/>
            <a:ext cx="8229600" cy="1051560"/>
          </a:xfrm>
          <a:prstGeom prst="rect">
            <a:avLst/>
          </a:prstGeom>
          <a:noFill/>
          <a:ln>
            <a:noFill/>
          </a:ln>
        </p:spPr>
        <p:txBody>
          <a:bodyPr spcFirstLastPara="1" wrap="square" lIns="0" tIns="0" rIns="0" bIns="45700" anchor="t" anchorCtr="0">
            <a:noAutofit/>
          </a:bodyPr>
          <a:lstStyle/>
          <a:p>
            <a:pPr marL="0" lvl="0" indent="0" algn="l">
              <a:lnSpc>
                <a:spcPct val="100000"/>
              </a:lnSpc>
              <a:spcBef>
                <a:spcPts val="0"/>
              </a:spcBef>
              <a:buClr>
                <a:schemeClr val="dk1"/>
              </a:buClr>
              <a:buSzPts val="2800"/>
            </a:pPr>
            <a:r>
              <a:rPr lang="en-US" dirty="0" sz="2200" b="1">
                <a:solidFill>
                  <a:srgbClr val="A42530"/>
                </a:solidFill>
                <a:latin typeface="Arial"/>
              </a:rPr>
              <a:t>Smart Water Conservation and Awareness Portal</a:t>
            </a:r>
            <a:endParaRPr lang="en-US" dirty="0"/>
          </a:p>
          <a:p>
            <a:pPr algn="l">
              <a:spcBef>
                <a:spcPts val="600"/>
              </a:spcBef>
            </a:pPr>
            <a:r>
              <a:rPr sz="1400" b="0">
                <a:solidFill>
                  <a:srgbClr val="44546A"/>
                </a:solidFill>
                <a:latin typeface="Arial"/>
              </a:rPr>
              <a:t>A household water calculator, crisis advisory engine and society complaint portal for UN SDG 6, targets 6.1 and 6.4</a:t>
            </a:r>
          </a:p>
        </p:txBody>
      </p:sp>
      <p:sp>
        <p:nvSpPr>
          <p:cNvPr id="2" name="Google Shape;28;p6">
            <a:extLst>
              <a:ext uri="{FF2B5EF4-FFF2-40B4-BE49-F238E27FC236}">
                <a16:creationId xmlns="" xmlns:a16="http://schemas.microsoft.com/office/drawing/2014/main" id="{C7F5AABD-9423-BE7A-5E7B-96193C876883}"/>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 xmlns:a16="http://schemas.microsoft.com/office/drawing/2014/main" id="{21F39B4C-3C88-D58D-1AE2-D86C5CC85B8F}"/>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9" name="Google Shape;30;p6">
            <a:extLst>
              <a:ext uri="{FF2B5EF4-FFF2-40B4-BE49-F238E27FC236}">
                <a16:creationId xmlns="" xmlns:a16="http://schemas.microsoft.com/office/drawing/2014/main" id="{C46F5E81-7F9A-2292-04D4-6CA8EEE2316A}"/>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1</a:t>
            </a:fld>
            <a:endParaRPr lang="en-US" dirty="0"/>
          </a:p>
        </p:txBody>
      </p:sp>
      <p:cxnSp>
        <p:nvCxnSpPr>
          <p:cNvPr id="22" name="Connector 21"/>
          <p:cNvCxnSpPr/>
          <p:nvPr/>
        </p:nvCxnSpPr>
        <p:spPr>
          <a:xfrm>
            <a:off x="548640" y="3246120"/>
            <a:ext cx="7498080" cy="0"/>
          </a:xfrm>
          <a:prstGeom prst="line">
            <a:avLst/>
          </a:prstGeom>
          <a:ln w="9525">
            <a:solidFill>
              <a:srgbClr val="BFBFBF"/>
            </a:solidFill>
          </a:ln>
        </p:spPr>
      </p:cxnSp>
      <p:sp>
        <p:nvSpPr>
          <p:cNvPr id="23" name="TextBox 22"/>
          <p:cNvSpPr txBox="1"/>
          <p:nvPr/>
        </p:nvSpPr>
        <p:spPr>
          <a:xfrm>
            <a:off x="548640" y="3456432"/>
            <a:ext cx="3657600" cy="228600"/>
          </a:xfrm>
          <a:prstGeom prst="rect">
            <a:avLst/>
          </a:prstGeom>
          <a:noFill/>
        </p:spPr>
        <p:txBody>
          <a:bodyPr wrap="square" anchor="t" lIns="0" rIns="0" tIns="0" bIns="0">
            <a:spAutoFit/>
          </a:bodyPr>
          <a:lstStyle/>
          <a:p>
            <a:pPr algn="l">
              <a:spcAft>
                <a:spcPts val="0"/>
              </a:spcAft>
            </a:pPr>
            <a:r>
              <a:rPr sz="1000" b="1" i="0">
                <a:solidFill>
                  <a:srgbClr val="A42530"/>
                </a:solidFill>
                <a:latin typeface="Arial"/>
              </a:rPr>
              <a:t>TEAM</a:t>
            </a:r>
          </a:p>
        </p:txBody>
      </p:sp>
      <p:sp>
        <p:nvSpPr>
          <p:cNvPr id="24" name="TextBox 23"/>
          <p:cNvSpPr txBox="1"/>
          <p:nvPr/>
        </p:nvSpPr>
        <p:spPr>
          <a:xfrm>
            <a:off x="548640" y="3712463"/>
            <a:ext cx="3657600" cy="914400"/>
          </a:xfrm>
          <a:prstGeom prst="rect">
            <a:avLst/>
          </a:prstGeom>
          <a:noFill/>
        </p:spPr>
        <p:txBody>
          <a:bodyPr wrap="square" anchor="t" lIns="0" rIns="0" tIns="0" bIns="0">
            <a:spAutoFit/>
          </a:bodyPr>
          <a:lstStyle/>
          <a:p>
            <a:pPr algn="l">
              <a:spcAft>
                <a:spcPts val="400"/>
              </a:spcAft>
            </a:pPr>
            <a:r>
              <a:rPr sz="1400" b="1" i="0">
                <a:solidFill>
                  <a:srgbClr val="000000"/>
                </a:solidFill>
                <a:latin typeface="Arial"/>
              </a:rPr>
              <a:t>[Name 1]</a:t>
            </a:r>
            <a:r>
              <a:rPr sz="1200" b="0" i="0">
                <a:solidFill>
                  <a:srgbClr val="44546A"/>
                </a:solidFill>
                <a:latin typeface="Arial"/>
              </a:rPr>
              <a:t>   Roll No. [____]</a:t>
            </a:r>
          </a:p>
          <a:p>
            <a:pPr algn="l">
              <a:spcAft>
                <a:spcPts val="400"/>
              </a:spcAft>
            </a:pPr>
            <a:r>
              <a:rPr sz="1400" b="1" i="0">
                <a:solidFill>
                  <a:srgbClr val="000000"/>
                </a:solidFill>
                <a:latin typeface="Arial"/>
              </a:rPr>
              <a:t>[Name 2]</a:t>
            </a:r>
            <a:r>
              <a:rPr sz="1200" b="0" i="0">
                <a:solidFill>
                  <a:srgbClr val="44546A"/>
                </a:solidFill>
                <a:latin typeface="Arial"/>
              </a:rPr>
              <a:t>   Roll No. [____]</a:t>
            </a:r>
          </a:p>
        </p:txBody>
      </p:sp>
      <p:sp>
        <p:nvSpPr>
          <p:cNvPr id="25" name="TextBox 24"/>
          <p:cNvSpPr txBox="1"/>
          <p:nvPr/>
        </p:nvSpPr>
        <p:spPr>
          <a:xfrm>
            <a:off x="4434840" y="3456432"/>
            <a:ext cx="3657600" cy="228600"/>
          </a:xfrm>
          <a:prstGeom prst="rect">
            <a:avLst/>
          </a:prstGeom>
          <a:noFill/>
        </p:spPr>
        <p:txBody>
          <a:bodyPr wrap="square" anchor="t" lIns="0" rIns="0" tIns="0" bIns="0">
            <a:spAutoFit/>
          </a:bodyPr>
          <a:lstStyle/>
          <a:p>
            <a:pPr algn="l">
              <a:spcAft>
                <a:spcPts val="0"/>
              </a:spcAft>
            </a:pPr>
            <a:r>
              <a:rPr sz="1000" b="1" i="0">
                <a:solidFill>
                  <a:srgbClr val="A42530"/>
                </a:solidFill>
                <a:latin typeface="Arial"/>
              </a:rPr>
              <a:t>GUIDE</a:t>
            </a:r>
          </a:p>
        </p:txBody>
      </p:sp>
      <p:sp>
        <p:nvSpPr>
          <p:cNvPr id="26" name="TextBox 25"/>
          <p:cNvSpPr txBox="1"/>
          <p:nvPr/>
        </p:nvSpPr>
        <p:spPr>
          <a:xfrm>
            <a:off x="4434840" y="3712463"/>
            <a:ext cx="3657600" cy="320040"/>
          </a:xfrm>
          <a:prstGeom prst="rect">
            <a:avLst/>
          </a:prstGeom>
          <a:noFill/>
        </p:spPr>
        <p:txBody>
          <a:bodyPr wrap="square" anchor="t" lIns="0" rIns="0" tIns="0" bIns="0">
            <a:spAutoFit/>
          </a:bodyPr>
          <a:lstStyle/>
          <a:p>
            <a:pPr algn="l">
              <a:spcAft>
                <a:spcPts val="0"/>
              </a:spcAft>
            </a:pPr>
            <a:r>
              <a:rPr sz="1400" b="1" i="0">
                <a:solidFill>
                  <a:srgbClr val="000000"/>
                </a:solidFill>
                <a:latin typeface="Arial"/>
              </a:rPr>
              <a:t>Prof. Sonia Joshi</a:t>
            </a:r>
          </a:p>
        </p:txBody>
      </p:sp>
      <p:sp>
        <p:nvSpPr>
          <p:cNvPr id="27" name="TextBox 26"/>
          <p:cNvSpPr txBox="1"/>
          <p:nvPr/>
        </p:nvSpPr>
        <p:spPr>
          <a:xfrm>
            <a:off x="548640" y="4572000"/>
            <a:ext cx="3657600" cy="228600"/>
          </a:xfrm>
          <a:prstGeom prst="rect">
            <a:avLst/>
          </a:prstGeom>
          <a:noFill/>
        </p:spPr>
        <p:txBody>
          <a:bodyPr wrap="square" anchor="t" lIns="0" rIns="0" tIns="0" bIns="0">
            <a:spAutoFit/>
          </a:bodyPr>
          <a:lstStyle/>
          <a:p>
            <a:pPr algn="l">
              <a:spcAft>
                <a:spcPts val="0"/>
              </a:spcAft>
            </a:pPr>
            <a:r>
              <a:rPr sz="1000" b="1" i="0">
                <a:solidFill>
                  <a:srgbClr val="A42530"/>
                </a:solidFill>
                <a:latin typeface="Arial"/>
              </a:rPr>
              <a:t>COURSE</a:t>
            </a:r>
          </a:p>
        </p:txBody>
      </p:sp>
      <p:sp>
        <p:nvSpPr>
          <p:cNvPr id="28" name="TextBox 27"/>
          <p:cNvSpPr txBox="1"/>
          <p:nvPr/>
        </p:nvSpPr>
        <p:spPr>
          <a:xfrm>
            <a:off x="548640" y="4828032"/>
            <a:ext cx="3749039" cy="731520"/>
          </a:xfrm>
          <a:prstGeom prst="rect">
            <a:avLst/>
          </a:prstGeom>
          <a:noFill/>
        </p:spPr>
        <p:txBody>
          <a:bodyPr wrap="square" anchor="t" lIns="0" rIns="0" tIns="0" bIns="0">
            <a:spAutoFit/>
          </a:bodyPr>
          <a:lstStyle/>
          <a:p>
            <a:pPr algn="l">
              <a:spcAft>
                <a:spcPts val="200"/>
              </a:spcAft>
            </a:pPr>
            <a:r>
              <a:rPr sz="1200" b="0" i="0">
                <a:solidFill>
                  <a:srgbClr val="000000"/>
                </a:solidFill>
                <a:latin typeface="Arial"/>
              </a:rPr>
              <a:t>Web Programming Laboratory (216U40L501)</a:t>
            </a:r>
          </a:p>
          <a:p>
            <a:pPr algn="l">
              <a:spcAft>
                <a:spcPts val="200"/>
              </a:spcAft>
            </a:pPr>
            <a:r>
              <a:rPr sz="1200" b="0" i="0">
                <a:solidFill>
                  <a:srgbClr val="000000"/>
                </a:solidFill>
                <a:latin typeface="Arial"/>
              </a:rPr>
              <a:t>Sem 5 · TY EXCP-A</a:t>
            </a:r>
          </a:p>
        </p:txBody>
      </p:sp>
      <p:sp>
        <p:nvSpPr>
          <p:cNvPr id="29" name="TextBox 28"/>
          <p:cNvSpPr txBox="1"/>
          <p:nvPr/>
        </p:nvSpPr>
        <p:spPr>
          <a:xfrm>
            <a:off x="4434840" y="4572000"/>
            <a:ext cx="3657600" cy="228600"/>
          </a:xfrm>
          <a:prstGeom prst="rect">
            <a:avLst/>
          </a:prstGeom>
          <a:noFill/>
        </p:spPr>
        <p:txBody>
          <a:bodyPr wrap="square" anchor="t" lIns="0" rIns="0" tIns="0" bIns="0">
            <a:spAutoFit/>
          </a:bodyPr>
          <a:lstStyle/>
          <a:p>
            <a:pPr algn="l">
              <a:spcAft>
                <a:spcPts val="0"/>
              </a:spcAft>
            </a:pPr>
            <a:r>
              <a:rPr sz="1000" b="1" i="0">
                <a:solidFill>
                  <a:srgbClr val="A42530"/>
                </a:solidFill>
                <a:latin typeface="Arial"/>
              </a:rPr>
              <a:t>INSTITUTION</a:t>
            </a:r>
          </a:p>
        </p:txBody>
      </p:sp>
      <p:sp>
        <p:nvSpPr>
          <p:cNvPr id="30" name="TextBox 29"/>
          <p:cNvSpPr txBox="1"/>
          <p:nvPr/>
        </p:nvSpPr>
        <p:spPr>
          <a:xfrm>
            <a:off x="4434840" y="4828032"/>
            <a:ext cx="3657600" cy="731520"/>
          </a:xfrm>
          <a:prstGeom prst="rect">
            <a:avLst/>
          </a:prstGeom>
          <a:noFill/>
        </p:spPr>
        <p:txBody>
          <a:bodyPr wrap="square" anchor="t" lIns="0" rIns="0" tIns="0" bIns="0">
            <a:spAutoFit/>
          </a:bodyPr>
          <a:lstStyle/>
          <a:p>
            <a:pPr algn="l">
              <a:spcAft>
                <a:spcPts val="200"/>
              </a:spcAft>
            </a:pPr>
            <a:r>
              <a:rPr sz="1200" b="0" i="0">
                <a:solidFill>
                  <a:srgbClr val="000000"/>
                </a:solidFill>
                <a:latin typeface="Arial"/>
              </a:rPr>
              <a:t>K J Somaiya College of Engineering</a:t>
            </a:r>
          </a:p>
          <a:p>
            <a:pPr algn="l">
              <a:spcAft>
                <a:spcPts val="200"/>
              </a:spcAft>
            </a:pPr>
            <a:r>
              <a:rPr sz="1200" b="0" i="0">
                <a:solidFill>
                  <a:srgbClr val="000000"/>
                </a:solidFill>
                <a:latin typeface="Arial"/>
              </a:rPr>
              <a:t>Somaiya Vidyavihar University</a:t>
            </a:r>
          </a:p>
        </p:txBody>
      </p:sp>
      <p:pic>
        <p:nvPicPr>
          <p:cNvPr id="31" name="Picture 30" descr="title_calc.png"/>
          <p:cNvPicPr>
            <a:picLocks noChangeAspect="1"/>
          </p:cNvPicPr>
          <p:nvPr/>
        </p:nvPicPr>
        <p:blipFill>
          <a:blip r:embed="rId5"/>
          <a:stretch>
            <a:fillRect/>
          </a:stretch>
        </p:blipFill>
        <p:spPr>
          <a:xfrm>
            <a:off x="9006840" y="1188720"/>
            <a:ext cx="2395943" cy="3977639"/>
          </a:xfrm>
          <a:prstGeom prst="rect">
            <a:avLst/>
          </a:prstGeom>
          <a:ln w="9525">
            <a:solidFill>
              <a:srgbClr val="8C8C8C"/>
            </a:solidFill>
          </a:ln>
        </p:spPr>
      </p:pic>
      <p:sp>
        <p:nvSpPr>
          <p:cNvPr id="32" name="TextBox 31"/>
          <p:cNvSpPr txBox="1"/>
          <p:nvPr/>
        </p:nvSpPr>
        <p:spPr>
          <a:xfrm>
            <a:off x="8503920" y="5239512"/>
            <a:ext cx="3200400" cy="457200"/>
          </a:xfrm>
          <a:prstGeom prst="rect">
            <a:avLst/>
          </a:prstGeom>
          <a:noFill/>
        </p:spPr>
        <p:txBody>
          <a:bodyPr wrap="square" anchor="t" lIns="0" rIns="0" tIns="0" bIns="0">
            <a:spAutoFit/>
          </a:bodyPr>
          <a:lstStyle/>
          <a:p>
            <a:pPr algn="ctr">
              <a:spcAft>
                <a:spcPts val="0"/>
              </a:spcAft>
            </a:pPr>
            <a:r>
              <a:rPr sz="900" b="0" i="0">
                <a:solidFill>
                  <a:srgbClr val="44546A"/>
                </a:solidFill>
                <a:latin typeface="Arial"/>
              </a:rPr>
              <a:t>Running app: calculator result for the 4-person test household (TC-C01)</a:t>
            </a:r>
          </a:p>
        </p:txBody>
      </p:sp>
    </p:spTree>
    <p:extLst>
      <p:ext uri="{BB962C8B-B14F-4D97-AF65-F5344CB8AC3E}">
        <p14:creationId xmlns:p14="http://schemas.microsoft.com/office/powerpoint/2010/main" val="2811253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txBox="1">
            <a:spLocks noGrp="1"/>
          </p:cNvSpPr>
          <p:nvPr>
            <p:ph type="ctrTitle"/>
          </p:nvPr>
        </p:nvSpPr>
        <p:spPr>
          <a:xfrm>
            <a:off x="2606040" y="201168"/>
            <a:ext cx="8458200" cy="960120"/>
          </a:xfrm>
          <a:prstGeom prst="rect">
            <a:avLst/>
          </a:prstGeom>
          <a:noFill/>
          <a:ln>
            <a:noFill/>
          </a:ln>
        </p:spPr>
        <p:txBody>
          <a:bodyPr spcFirstLastPara="1" wrap="square" lIns="91425" tIns="45700" rIns="91425" bIns="45700" anchor="ctr" anchorCtr="0">
            <a:noAutofit/>
          </a:bodyPr>
          <a:lstStyle/>
          <a:p>
            <a:pPr marL="0" lvl="0" indent="0" algn="ctr" rtl="0">
              <a:lnSpc>
                <a:spcPct val="95000"/>
              </a:lnSpc>
              <a:spcBef>
                <a:spcPts val="0"/>
              </a:spcBef>
              <a:spcAft>
                <a:spcPts val="0"/>
              </a:spcAft>
              <a:buClr>
                <a:srgbClr val="A42530"/>
              </a:buClr>
              <a:buSzPts val="6000"/>
              <a:buFont typeface="Marcellus"/>
              <a:buNone/>
            </a:pPr>
            <a:r>
              <a:rPr lang="en-IN" sz="2200" dirty="0" b="1">
                <a:solidFill>
                  <a:srgbClr val="000000"/>
                </a:solidFill>
                <a:latin typeface="Arial"/>
              </a:rPr>
              <a:t>Households cannot act on water problems they cannot measure, diagnose or route to the person responsible</a:t>
            </a:r>
            <a:endParaRPr sz="3600" dirty="0"/>
          </a:p>
        </p:txBody>
      </p:sp>
      <p:sp>
        <p:nvSpPr>
          <p:cNvPr id="2" name="Google Shape;28;p6">
            <a:extLst>
              <a:ext uri="{FF2B5EF4-FFF2-40B4-BE49-F238E27FC236}">
                <a16:creationId xmlns="" xmlns:a16="http://schemas.microsoft.com/office/drawing/2014/main" id="{549F0C40-71EF-DDDF-2F69-F15733F9223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 xmlns:a16="http://schemas.microsoft.com/office/drawing/2014/main" id="{BD9EB9F3-ACCC-CA29-82D0-199936CB5A5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 xmlns:a16="http://schemas.microsoft.com/office/drawing/2014/main" id="{43F358E2-BE0A-24B2-4518-941E0E4D61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2</a:t>
            </a:fld>
            <a:endParaRPr lang="en-US" dirty="0"/>
          </a:p>
        </p:txBody>
      </p:sp>
      <p:sp>
        <p:nvSpPr>
          <p:cNvPr id="21" name="TextBox 20"/>
          <p:cNvSpPr txBox="1"/>
          <p:nvPr/>
        </p:nvSpPr>
        <p:spPr>
          <a:xfrm>
            <a:off x="548640" y="1371600"/>
            <a:ext cx="4114800" cy="411480"/>
          </a:xfrm>
          <a:prstGeom prst="rect">
            <a:avLst/>
          </a:prstGeom>
          <a:noFill/>
        </p:spPr>
        <p:txBody>
          <a:bodyPr wrap="square" anchor="t" lIns="0" rIns="0" tIns="0" bIns="0">
            <a:spAutoFit/>
          </a:bodyPr>
          <a:lstStyle/>
          <a:p>
            <a:pPr algn="l">
              <a:spcAft>
                <a:spcPts val="0"/>
              </a:spcAft>
            </a:pPr>
            <a:r>
              <a:rPr sz="2400" b="1" i="0">
                <a:solidFill>
                  <a:srgbClr val="A42530"/>
                </a:solidFill>
                <a:latin typeface="Arial"/>
              </a:rPr>
              <a:t>2.1 billion people</a:t>
            </a:r>
          </a:p>
        </p:txBody>
      </p:sp>
      <p:sp>
        <p:nvSpPr>
          <p:cNvPr id="22" name="TextBox 21"/>
          <p:cNvSpPr txBox="1"/>
          <p:nvPr/>
        </p:nvSpPr>
        <p:spPr>
          <a:xfrm>
            <a:off x="548640" y="1801368"/>
            <a:ext cx="4069080" cy="502920"/>
          </a:xfrm>
          <a:prstGeom prst="rect">
            <a:avLst/>
          </a:prstGeom>
          <a:noFill/>
        </p:spPr>
        <p:txBody>
          <a:bodyPr wrap="square" anchor="t" lIns="0" rIns="0" tIns="0" bIns="0">
            <a:spAutoFit/>
          </a:bodyPr>
          <a:lstStyle/>
          <a:p>
            <a:pPr algn="l">
              <a:spcAft>
                <a:spcPts val="0"/>
              </a:spcAft>
            </a:pPr>
            <a:r>
              <a:rPr sz="1200" b="0" i="0">
                <a:solidFill>
                  <a:srgbClr val="000000"/>
                </a:solidFill>
                <a:latin typeface="Arial"/>
              </a:rPr>
              <a:t>one in four worldwide lacked safely managed drinking water in 2024</a:t>
            </a:r>
          </a:p>
        </p:txBody>
      </p:sp>
      <p:sp>
        <p:nvSpPr>
          <p:cNvPr id="23" name="TextBox 22"/>
          <p:cNvSpPr txBox="1"/>
          <p:nvPr/>
        </p:nvSpPr>
        <p:spPr>
          <a:xfrm>
            <a:off x="548640" y="2304288"/>
            <a:ext cx="4069080" cy="201168"/>
          </a:xfrm>
          <a:prstGeom prst="rect">
            <a:avLst/>
          </a:prstGeom>
          <a:noFill/>
        </p:spPr>
        <p:txBody>
          <a:bodyPr wrap="square" anchor="t" lIns="0" rIns="0" tIns="0" bIns="0">
            <a:spAutoFit/>
          </a:bodyPr>
          <a:lstStyle/>
          <a:p>
            <a:pPr algn="l">
              <a:spcAft>
                <a:spcPts val="0"/>
              </a:spcAft>
            </a:pPr>
            <a:r>
              <a:rPr sz="900" b="0" i="0">
                <a:solidFill>
                  <a:srgbClr val="44546A"/>
                </a:solidFill>
                <a:latin typeface="Arial"/>
              </a:rPr>
              <a:t>WHO/UNICEF JMP, 2025 [1]</a:t>
            </a:r>
          </a:p>
        </p:txBody>
      </p:sp>
      <p:cxnSp>
        <p:nvCxnSpPr>
          <p:cNvPr id="24" name="Connector 23"/>
          <p:cNvCxnSpPr/>
          <p:nvPr/>
        </p:nvCxnSpPr>
        <p:spPr>
          <a:xfrm>
            <a:off x="548640" y="2578608"/>
            <a:ext cx="4069080" cy="0"/>
          </a:xfrm>
          <a:prstGeom prst="line">
            <a:avLst/>
          </a:prstGeom>
          <a:ln w="9525">
            <a:solidFill>
              <a:srgbClr val="BFBFBF"/>
            </a:solidFill>
          </a:ln>
        </p:spPr>
      </p:cxnSp>
      <p:sp>
        <p:nvSpPr>
          <p:cNvPr id="25" name="TextBox 24"/>
          <p:cNvSpPr txBox="1"/>
          <p:nvPr/>
        </p:nvSpPr>
        <p:spPr>
          <a:xfrm>
            <a:off x="548640" y="2697480"/>
            <a:ext cx="4114800" cy="411480"/>
          </a:xfrm>
          <a:prstGeom prst="rect">
            <a:avLst/>
          </a:prstGeom>
          <a:noFill/>
        </p:spPr>
        <p:txBody>
          <a:bodyPr wrap="square" anchor="t" lIns="0" rIns="0" tIns="0" bIns="0">
            <a:spAutoFit/>
          </a:bodyPr>
          <a:lstStyle/>
          <a:p>
            <a:pPr algn="l">
              <a:spcAft>
                <a:spcPts val="0"/>
              </a:spcAft>
            </a:pPr>
            <a:r>
              <a:rPr sz="2400" b="1" i="0">
                <a:solidFill>
                  <a:srgbClr val="A42530"/>
                </a:solidFill>
                <a:latin typeface="Arial"/>
              </a:rPr>
              <a:t>~600 million Indians</a:t>
            </a:r>
          </a:p>
        </p:txBody>
      </p:sp>
      <p:sp>
        <p:nvSpPr>
          <p:cNvPr id="26" name="TextBox 25"/>
          <p:cNvSpPr txBox="1"/>
          <p:nvPr/>
        </p:nvSpPr>
        <p:spPr>
          <a:xfrm>
            <a:off x="548640" y="3127248"/>
            <a:ext cx="4069080" cy="502920"/>
          </a:xfrm>
          <a:prstGeom prst="rect">
            <a:avLst/>
          </a:prstGeom>
          <a:noFill/>
        </p:spPr>
        <p:txBody>
          <a:bodyPr wrap="square" anchor="t" lIns="0" rIns="0" tIns="0" bIns="0">
            <a:spAutoFit/>
          </a:bodyPr>
          <a:lstStyle/>
          <a:p>
            <a:pPr algn="l">
              <a:spcAft>
                <a:spcPts val="0"/>
              </a:spcAft>
            </a:pPr>
            <a:r>
              <a:rPr sz="1200" b="0" i="0">
                <a:solidFill>
                  <a:srgbClr val="000000"/>
                </a:solidFill>
                <a:latin typeface="Arial"/>
              </a:rPr>
              <a:t>face high to extreme water stress; India ranks 120th of 122 countries on water quality</a:t>
            </a:r>
          </a:p>
        </p:txBody>
      </p:sp>
      <p:sp>
        <p:nvSpPr>
          <p:cNvPr id="27" name="TextBox 26"/>
          <p:cNvSpPr txBox="1"/>
          <p:nvPr/>
        </p:nvSpPr>
        <p:spPr>
          <a:xfrm>
            <a:off x="548640" y="3630168"/>
            <a:ext cx="4069080" cy="201168"/>
          </a:xfrm>
          <a:prstGeom prst="rect">
            <a:avLst/>
          </a:prstGeom>
          <a:noFill/>
        </p:spPr>
        <p:txBody>
          <a:bodyPr wrap="square" anchor="t" lIns="0" rIns="0" tIns="0" bIns="0">
            <a:spAutoFit/>
          </a:bodyPr>
          <a:lstStyle/>
          <a:p>
            <a:pPr algn="l">
              <a:spcAft>
                <a:spcPts val="0"/>
              </a:spcAft>
            </a:pPr>
            <a:r>
              <a:rPr sz="900" b="0" i="0">
                <a:solidFill>
                  <a:srgbClr val="44546A"/>
                </a:solidFill>
                <a:latin typeface="Arial"/>
              </a:rPr>
              <a:t>NITI Aayog CWMI, 2018 [2]</a:t>
            </a:r>
          </a:p>
        </p:txBody>
      </p:sp>
      <p:cxnSp>
        <p:nvCxnSpPr>
          <p:cNvPr id="28" name="Connector 27"/>
          <p:cNvCxnSpPr/>
          <p:nvPr/>
        </p:nvCxnSpPr>
        <p:spPr>
          <a:xfrm>
            <a:off x="548640" y="3904488"/>
            <a:ext cx="4069080" cy="0"/>
          </a:xfrm>
          <a:prstGeom prst="line">
            <a:avLst/>
          </a:prstGeom>
          <a:ln w="9525">
            <a:solidFill>
              <a:srgbClr val="BFBFBF"/>
            </a:solidFill>
          </a:ln>
        </p:spPr>
      </p:cxnSp>
      <p:sp>
        <p:nvSpPr>
          <p:cNvPr id="29" name="TextBox 28"/>
          <p:cNvSpPr txBox="1"/>
          <p:nvPr/>
        </p:nvSpPr>
        <p:spPr>
          <a:xfrm>
            <a:off x="548640" y="4023360"/>
            <a:ext cx="4114800" cy="411480"/>
          </a:xfrm>
          <a:prstGeom prst="rect">
            <a:avLst/>
          </a:prstGeom>
          <a:noFill/>
        </p:spPr>
        <p:txBody>
          <a:bodyPr wrap="square" anchor="t" lIns="0" rIns="0" tIns="0" bIns="0">
            <a:spAutoFit/>
          </a:bodyPr>
          <a:lstStyle/>
          <a:p>
            <a:pPr algn="l">
              <a:spcAft>
                <a:spcPts val="0"/>
              </a:spcAft>
            </a:pPr>
            <a:r>
              <a:rPr sz="2400" b="1" i="0">
                <a:solidFill>
                  <a:srgbClr val="A42530"/>
                </a:solidFill>
                <a:latin typeface="Arial"/>
              </a:rPr>
              <a:t>135–150 L/person/day</a:t>
            </a:r>
          </a:p>
        </p:txBody>
      </p:sp>
      <p:sp>
        <p:nvSpPr>
          <p:cNvPr id="30" name="TextBox 29"/>
          <p:cNvSpPr txBox="1"/>
          <p:nvPr/>
        </p:nvSpPr>
        <p:spPr>
          <a:xfrm>
            <a:off x="548640" y="4453128"/>
            <a:ext cx="4069080" cy="502920"/>
          </a:xfrm>
          <a:prstGeom prst="rect">
            <a:avLst/>
          </a:prstGeom>
          <a:noFill/>
        </p:spPr>
        <p:txBody>
          <a:bodyPr wrap="square" anchor="t" lIns="0" rIns="0" tIns="0" bIns="0">
            <a:spAutoFit/>
          </a:bodyPr>
          <a:lstStyle/>
          <a:p>
            <a:pPr algn="l">
              <a:spcAft>
                <a:spcPts val="0"/>
              </a:spcAft>
            </a:pPr>
            <a:r>
              <a:rPr sz="1200" b="0" i="0">
                <a:solidFill>
                  <a:srgbClr val="000000"/>
                </a:solidFill>
                <a:latin typeface="Arial"/>
              </a:rPr>
              <a:t>Indian urban planning norm; the Jal Jeevan Mission adequacy line is 55 L/person/day</a:t>
            </a:r>
          </a:p>
        </p:txBody>
      </p:sp>
      <p:sp>
        <p:nvSpPr>
          <p:cNvPr id="31" name="TextBox 30"/>
          <p:cNvSpPr txBox="1"/>
          <p:nvPr/>
        </p:nvSpPr>
        <p:spPr>
          <a:xfrm>
            <a:off x="548640" y="4956048"/>
            <a:ext cx="4069080" cy="201168"/>
          </a:xfrm>
          <a:prstGeom prst="rect">
            <a:avLst/>
          </a:prstGeom>
          <a:noFill/>
        </p:spPr>
        <p:txBody>
          <a:bodyPr wrap="square" anchor="t" lIns="0" rIns="0" tIns="0" bIns="0">
            <a:spAutoFit/>
          </a:bodyPr>
          <a:lstStyle/>
          <a:p>
            <a:pPr algn="l">
              <a:spcAft>
                <a:spcPts val="0"/>
              </a:spcAft>
            </a:pPr>
            <a:r>
              <a:rPr sz="900" b="0" i="0">
                <a:solidFill>
                  <a:srgbClr val="44546A"/>
                </a:solidFill>
                <a:latin typeface="Arial"/>
              </a:rPr>
              <a:t>CPHEEO Manual [3]; Jal Jeevan Mission, MoJS</a:t>
            </a:r>
          </a:p>
        </p:txBody>
      </p:sp>
      <p:sp>
        <p:nvSpPr>
          <p:cNvPr id="32" name="TextBox 31"/>
          <p:cNvSpPr txBox="1"/>
          <p:nvPr/>
        </p:nvSpPr>
        <p:spPr>
          <a:xfrm>
            <a:off x="5074920" y="1371600"/>
            <a:ext cx="6583680" cy="274320"/>
          </a:xfrm>
          <a:prstGeom prst="rect">
            <a:avLst/>
          </a:prstGeom>
          <a:noFill/>
        </p:spPr>
        <p:txBody>
          <a:bodyPr wrap="square" anchor="t" lIns="0" rIns="0" tIns="0" bIns="0">
            <a:spAutoFit/>
          </a:bodyPr>
          <a:lstStyle/>
          <a:p>
            <a:pPr algn="l">
              <a:spcAft>
                <a:spcPts val="0"/>
              </a:spcAft>
            </a:pPr>
            <a:r>
              <a:rPr sz="1200" b="1" i="0">
                <a:solidFill>
                  <a:srgbClr val="000000"/>
                </a:solidFill>
                <a:latin typeface="Arial"/>
              </a:rPr>
              <a:t>Where a household sits: </a:t>
            </a:r>
            <a:r>
              <a:rPr sz="1200" b="0" i="0">
                <a:solidFill>
                  <a:srgbClr val="000000"/>
                </a:solidFill>
                <a:latin typeface="Arial"/>
              </a:rPr>
              <a:t>litres per person per day</a:t>
            </a:r>
          </a:p>
        </p:txBody>
      </p:sp>
      <p:sp>
        <p:nvSpPr>
          <p:cNvPr id="33" name="Rectangle 32"/>
          <p:cNvSpPr/>
          <p:nvPr/>
        </p:nvSpPr>
        <p:spPr>
          <a:xfrm>
            <a:off x="5257800" y="3246120"/>
            <a:ext cx="565265" cy="310896"/>
          </a:xfrm>
          <a:prstGeom prst="rect">
            <a:avLst/>
          </a:prstGeom>
          <a:solidFill>
            <a:srgbClr val="A42530"/>
          </a:solidFill>
          <a:ln w="12700">
            <a:solidFill>
              <a:srgbClr val="FFFFFF"/>
            </a:solidFill>
          </a:ln>
        </p:spPr>
        <p:txBody>
          <a:bodyPr rtlCol="0" anchor="ctr"/>
          <a:lstStyle/>
          <a:p>
            <a:pPr algn="ctr"/>
          </a:p>
        </p:txBody>
      </p:sp>
      <p:sp>
        <p:nvSpPr>
          <p:cNvPr id="34" name="TextBox 33"/>
          <p:cNvSpPr txBox="1"/>
          <p:nvPr/>
        </p:nvSpPr>
        <p:spPr>
          <a:xfrm>
            <a:off x="5257800" y="3602735"/>
            <a:ext cx="565265" cy="201168"/>
          </a:xfrm>
          <a:prstGeom prst="rect">
            <a:avLst/>
          </a:prstGeom>
          <a:noFill/>
        </p:spPr>
        <p:txBody>
          <a:bodyPr wrap="square" anchor="t" lIns="0" rIns="0" tIns="0" bIns="0">
            <a:spAutoFit/>
          </a:bodyPr>
          <a:lstStyle/>
          <a:p>
            <a:pPr algn="ctr">
              <a:spcAft>
                <a:spcPts val="0"/>
              </a:spcAft>
            </a:pPr>
            <a:r>
              <a:rPr sz="800" b="0" i="0">
                <a:solidFill>
                  <a:srgbClr val="44546A"/>
                </a:solidFill>
                <a:latin typeface="Arial"/>
              </a:rPr>
              <a:t>critical</a:t>
            </a:r>
          </a:p>
        </p:txBody>
      </p:sp>
      <p:sp>
        <p:nvSpPr>
          <p:cNvPr id="35" name="Rectangle 34"/>
          <p:cNvSpPr/>
          <p:nvPr/>
        </p:nvSpPr>
        <p:spPr>
          <a:xfrm>
            <a:off x="5823065" y="3246120"/>
            <a:ext cx="989214" cy="310896"/>
          </a:xfrm>
          <a:prstGeom prst="rect">
            <a:avLst/>
          </a:prstGeom>
          <a:solidFill>
            <a:srgbClr val="F6DDDF"/>
          </a:solidFill>
          <a:ln w="12700">
            <a:solidFill>
              <a:srgbClr val="FFFFFF"/>
            </a:solidFill>
          </a:ln>
        </p:spPr>
        <p:txBody>
          <a:bodyPr rtlCol="0" anchor="ctr"/>
          <a:lstStyle/>
          <a:p>
            <a:pPr algn="ctr"/>
          </a:p>
        </p:txBody>
      </p:sp>
      <p:sp>
        <p:nvSpPr>
          <p:cNvPr id="36" name="TextBox 35"/>
          <p:cNvSpPr txBox="1"/>
          <p:nvPr/>
        </p:nvSpPr>
        <p:spPr>
          <a:xfrm>
            <a:off x="5823065" y="3602735"/>
            <a:ext cx="989214" cy="201168"/>
          </a:xfrm>
          <a:prstGeom prst="rect">
            <a:avLst/>
          </a:prstGeom>
          <a:noFill/>
        </p:spPr>
        <p:txBody>
          <a:bodyPr wrap="square" anchor="t" lIns="0" rIns="0" tIns="0" bIns="0">
            <a:spAutoFit/>
          </a:bodyPr>
          <a:lstStyle/>
          <a:p>
            <a:pPr algn="ctr">
              <a:spcAft>
                <a:spcPts val="0"/>
              </a:spcAft>
            </a:pPr>
            <a:r>
              <a:rPr sz="800" b="0" i="0">
                <a:solidFill>
                  <a:srgbClr val="44546A"/>
                </a:solidFill>
                <a:latin typeface="Arial"/>
              </a:rPr>
              <a:t>under-supply</a:t>
            </a:r>
          </a:p>
        </p:txBody>
      </p:sp>
      <p:sp>
        <p:nvSpPr>
          <p:cNvPr id="37" name="Rectangle 36"/>
          <p:cNvSpPr/>
          <p:nvPr/>
        </p:nvSpPr>
        <p:spPr>
          <a:xfrm>
            <a:off x="6812280" y="3246120"/>
            <a:ext cx="1271847" cy="310896"/>
          </a:xfrm>
          <a:prstGeom prst="rect">
            <a:avLst/>
          </a:prstGeom>
          <a:solidFill>
            <a:srgbClr val="E7E6E6"/>
          </a:solidFill>
          <a:ln w="12700">
            <a:solidFill>
              <a:srgbClr val="FFFFFF"/>
            </a:solidFill>
          </a:ln>
        </p:spPr>
        <p:txBody>
          <a:bodyPr rtlCol="0" anchor="ctr"/>
          <a:lstStyle/>
          <a:p>
            <a:pPr algn="ctr"/>
          </a:p>
        </p:txBody>
      </p:sp>
      <p:sp>
        <p:nvSpPr>
          <p:cNvPr id="38" name="TextBox 37"/>
          <p:cNvSpPr txBox="1"/>
          <p:nvPr/>
        </p:nvSpPr>
        <p:spPr>
          <a:xfrm>
            <a:off x="6812280" y="3602735"/>
            <a:ext cx="1271847" cy="201168"/>
          </a:xfrm>
          <a:prstGeom prst="rect">
            <a:avLst/>
          </a:prstGeom>
          <a:noFill/>
        </p:spPr>
        <p:txBody>
          <a:bodyPr wrap="square" anchor="t" lIns="0" rIns="0" tIns="0" bIns="0">
            <a:spAutoFit/>
          </a:bodyPr>
          <a:lstStyle/>
          <a:p>
            <a:pPr algn="ctr">
              <a:spcAft>
                <a:spcPts val="0"/>
              </a:spcAft>
            </a:pPr>
            <a:r>
              <a:rPr sz="800" b="0" i="0">
                <a:solidFill>
                  <a:srgbClr val="44546A"/>
                </a:solidFill>
                <a:latin typeface="Arial"/>
              </a:rPr>
              <a:t>basic</a:t>
            </a:r>
          </a:p>
        </p:txBody>
      </p:sp>
      <p:sp>
        <p:nvSpPr>
          <p:cNvPr id="39" name="Rectangle 38"/>
          <p:cNvSpPr/>
          <p:nvPr/>
        </p:nvSpPr>
        <p:spPr>
          <a:xfrm>
            <a:off x="8084127" y="3246120"/>
            <a:ext cx="1413163" cy="310896"/>
          </a:xfrm>
          <a:prstGeom prst="rect">
            <a:avLst/>
          </a:prstGeom>
          <a:solidFill>
            <a:srgbClr val="C9CDD3"/>
          </a:solidFill>
          <a:ln w="12700">
            <a:solidFill>
              <a:srgbClr val="FFFFFF"/>
            </a:solidFill>
          </a:ln>
        </p:spPr>
        <p:txBody>
          <a:bodyPr rtlCol="0" anchor="ctr"/>
          <a:lstStyle/>
          <a:p>
            <a:pPr algn="ctr"/>
          </a:p>
        </p:txBody>
      </p:sp>
      <p:sp>
        <p:nvSpPr>
          <p:cNvPr id="40" name="TextBox 39"/>
          <p:cNvSpPr txBox="1"/>
          <p:nvPr/>
        </p:nvSpPr>
        <p:spPr>
          <a:xfrm>
            <a:off x="8084127" y="3602735"/>
            <a:ext cx="1413163" cy="201168"/>
          </a:xfrm>
          <a:prstGeom prst="rect">
            <a:avLst/>
          </a:prstGeom>
          <a:noFill/>
        </p:spPr>
        <p:txBody>
          <a:bodyPr wrap="square" anchor="t" lIns="0" rIns="0" tIns="0" bIns="0">
            <a:spAutoFit/>
          </a:bodyPr>
          <a:lstStyle/>
          <a:p>
            <a:pPr algn="ctr">
              <a:spcAft>
                <a:spcPts val="0"/>
              </a:spcAft>
            </a:pPr>
            <a:r>
              <a:rPr sz="800" b="0" i="0">
                <a:solidFill>
                  <a:srgbClr val="44546A"/>
                </a:solidFill>
                <a:latin typeface="Arial"/>
              </a:rPr>
              <a:t>within norm</a:t>
            </a:r>
          </a:p>
        </p:txBody>
      </p:sp>
      <p:sp>
        <p:nvSpPr>
          <p:cNvPr id="41" name="Rectangle 40"/>
          <p:cNvSpPr/>
          <p:nvPr/>
        </p:nvSpPr>
        <p:spPr>
          <a:xfrm>
            <a:off x="9497290" y="3246120"/>
            <a:ext cx="1413163" cy="310896"/>
          </a:xfrm>
          <a:prstGeom prst="rect">
            <a:avLst/>
          </a:prstGeom>
          <a:solidFill>
            <a:srgbClr val="F6DDDF"/>
          </a:solidFill>
          <a:ln w="12700">
            <a:solidFill>
              <a:srgbClr val="FFFFFF"/>
            </a:solidFill>
          </a:ln>
        </p:spPr>
        <p:txBody>
          <a:bodyPr rtlCol="0" anchor="ctr"/>
          <a:lstStyle/>
          <a:p>
            <a:pPr algn="ctr"/>
          </a:p>
        </p:txBody>
      </p:sp>
      <p:sp>
        <p:nvSpPr>
          <p:cNvPr id="42" name="TextBox 41"/>
          <p:cNvSpPr txBox="1"/>
          <p:nvPr/>
        </p:nvSpPr>
        <p:spPr>
          <a:xfrm>
            <a:off x="9497290" y="3602735"/>
            <a:ext cx="1413163" cy="201168"/>
          </a:xfrm>
          <a:prstGeom prst="rect">
            <a:avLst/>
          </a:prstGeom>
          <a:noFill/>
        </p:spPr>
        <p:txBody>
          <a:bodyPr wrap="square" anchor="t" lIns="0" rIns="0" tIns="0" bIns="0">
            <a:spAutoFit/>
          </a:bodyPr>
          <a:lstStyle/>
          <a:p>
            <a:pPr algn="ctr">
              <a:spcAft>
                <a:spcPts val="0"/>
              </a:spcAft>
            </a:pPr>
            <a:r>
              <a:rPr sz="800" b="0" i="0">
                <a:solidFill>
                  <a:srgbClr val="44546A"/>
                </a:solidFill>
                <a:latin typeface="Arial"/>
              </a:rPr>
              <a:t>over-use</a:t>
            </a:r>
          </a:p>
        </p:txBody>
      </p:sp>
      <p:sp>
        <p:nvSpPr>
          <p:cNvPr id="43" name="Rectangle 42"/>
          <p:cNvSpPr/>
          <p:nvPr/>
        </p:nvSpPr>
        <p:spPr>
          <a:xfrm>
            <a:off x="10910454" y="3246120"/>
            <a:ext cx="565265" cy="310896"/>
          </a:xfrm>
          <a:prstGeom prst="rect">
            <a:avLst/>
          </a:prstGeom>
          <a:solidFill>
            <a:srgbClr val="A42530"/>
          </a:solidFill>
          <a:ln w="12700">
            <a:solidFill>
              <a:srgbClr val="FFFFFF"/>
            </a:solidFill>
          </a:ln>
        </p:spPr>
        <p:txBody>
          <a:bodyPr rtlCol="0" anchor="ctr"/>
          <a:lstStyle/>
          <a:p>
            <a:pPr algn="ctr"/>
          </a:p>
        </p:txBody>
      </p:sp>
      <p:sp>
        <p:nvSpPr>
          <p:cNvPr id="44" name="TextBox 43"/>
          <p:cNvSpPr txBox="1"/>
          <p:nvPr/>
        </p:nvSpPr>
        <p:spPr>
          <a:xfrm>
            <a:off x="10910454" y="3602735"/>
            <a:ext cx="565265" cy="201168"/>
          </a:xfrm>
          <a:prstGeom prst="rect">
            <a:avLst/>
          </a:prstGeom>
          <a:noFill/>
        </p:spPr>
        <p:txBody>
          <a:bodyPr wrap="square" anchor="t" lIns="0" rIns="0" tIns="0" bIns="0">
            <a:spAutoFit/>
          </a:bodyPr>
          <a:lstStyle/>
          <a:p>
            <a:pPr algn="ctr">
              <a:spcAft>
                <a:spcPts val="0"/>
              </a:spcAft>
            </a:pPr>
            <a:r>
              <a:rPr sz="800" b="0" i="0">
                <a:solidFill>
                  <a:srgbClr val="44546A"/>
                </a:solidFill>
                <a:latin typeface="Arial"/>
              </a:rPr>
              <a:t>severe</a:t>
            </a:r>
          </a:p>
        </p:txBody>
      </p:sp>
      <p:sp>
        <p:nvSpPr>
          <p:cNvPr id="45" name="TextBox 44"/>
          <p:cNvSpPr txBox="1"/>
          <p:nvPr/>
        </p:nvSpPr>
        <p:spPr>
          <a:xfrm>
            <a:off x="4983480" y="3831335"/>
            <a:ext cx="548640" cy="201168"/>
          </a:xfrm>
          <a:prstGeom prst="rect">
            <a:avLst/>
          </a:prstGeom>
          <a:noFill/>
        </p:spPr>
        <p:txBody>
          <a:bodyPr wrap="square" anchor="t" lIns="0" rIns="0" tIns="0" bIns="0">
            <a:spAutoFit/>
          </a:bodyPr>
          <a:lstStyle/>
          <a:p>
            <a:pPr algn="ctr">
              <a:spcAft>
                <a:spcPts val="0"/>
              </a:spcAft>
            </a:pPr>
            <a:r>
              <a:rPr sz="900" b="1" i="0">
                <a:solidFill>
                  <a:srgbClr val="000000"/>
                </a:solidFill>
                <a:latin typeface="Arial"/>
              </a:rPr>
              <a:t>0</a:t>
            </a:r>
          </a:p>
        </p:txBody>
      </p:sp>
      <p:sp>
        <p:nvSpPr>
          <p:cNvPr id="46" name="TextBox 45"/>
          <p:cNvSpPr txBox="1"/>
          <p:nvPr/>
        </p:nvSpPr>
        <p:spPr>
          <a:xfrm>
            <a:off x="5548745" y="3831335"/>
            <a:ext cx="548640" cy="201168"/>
          </a:xfrm>
          <a:prstGeom prst="rect">
            <a:avLst/>
          </a:prstGeom>
          <a:noFill/>
        </p:spPr>
        <p:txBody>
          <a:bodyPr wrap="square" anchor="t" lIns="0" rIns="0" tIns="0" bIns="0">
            <a:spAutoFit/>
          </a:bodyPr>
          <a:lstStyle/>
          <a:p>
            <a:pPr algn="ctr">
              <a:spcAft>
                <a:spcPts val="0"/>
              </a:spcAft>
            </a:pPr>
            <a:r>
              <a:rPr sz="900" b="1" i="0">
                <a:solidFill>
                  <a:srgbClr val="000000"/>
                </a:solidFill>
                <a:latin typeface="Arial"/>
              </a:rPr>
              <a:t>20</a:t>
            </a:r>
          </a:p>
        </p:txBody>
      </p:sp>
      <p:sp>
        <p:nvSpPr>
          <p:cNvPr id="47" name="TextBox 46"/>
          <p:cNvSpPr txBox="1"/>
          <p:nvPr/>
        </p:nvSpPr>
        <p:spPr>
          <a:xfrm>
            <a:off x="6537960" y="3831335"/>
            <a:ext cx="548640" cy="201168"/>
          </a:xfrm>
          <a:prstGeom prst="rect">
            <a:avLst/>
          </a:prstGeom>
          <a:noFill/>
        </p:spPr>
        <p:txBody>
          <a:bodyPr wrap="square" anchor="t" lIns="0" rIns="0" tIns="0" bIns="0">
            <a:spAutoFit/>
          </a:bodyPr>
          <a:lstStyle/>
          <a:p>
            <a:pPr algn="ctr">
              <a:spcAft>
                <a:spcPts val="0"/>
              </a:spcAft>
            </a:pPr>
            <a:r>
              <a:rPr sz="900" b="1" i="0">
                <a:solidFill>
                  <a:srgbClr val="000000"/>
                </a:solidFill>
                <a:latin typeface="Arial"/>
              </a:rPr>
              <a:t>55</a:t>
            </a:r>
          </a:p>
        </p:txBody>
      </p:sp>
      <p:sp>
        <p:nvSpPr>
          <p:cNvPr id="48" name="TextBox 47"/>
          <p:cNvSpPr txBox="1"/>
          <p:nvPr/>
        </p:nvSpPr>
        <p:spPr>
          <a:xfrm>
            <a:off x="7809807" y="3831335"/>
            <a:ext cx="548640" cy="201168"/>
          </a:xfrm>
          <a:prstGeom prst="rect">
            <a:avLst/>
          </a:prstGeom>
          <a:noFill/>
        </p:spPr>
        <p:txBody>
          <a:bodyPr wrap="square" anchor="t" lIns="0" rIns="0" tIns="0" bIns="0">
            <a:spAutoFit/>
          </a:bodyPr>
          <a:lstStyle/>
          <a:p>
            <a:pPr algn="ctr">
              <a:spcAft>
                <a:spcPts val="0"/>
              </a:spcAft>
            </a:pPr>
            <a:r>
              <a:rPr sz="900" b="1" i="0">
                <a:solidFill>
                  <a:srgbClr val="000000"/>
                </a:solidFill>
                <a:latin typeface="Arial"/>
              </a:rPr>
              <a:t>100</a:t>
            </a:r>
          </a:p>
        </p:txBody>
      </p:sp>
      <p:sp>
        <p:nvSpPr>
          <p:cNvPr id="49" name="TextBox 48"/>
          <p:cNvSpPr txBox="1"/>
          <p:nvPr/>
        </p:nvSpPr>
        <p:spPr>
          <a:xfrm>
            <a:off x="9222970" y="3831335"/>
            <a:ext cx="548640" cy="201168"/>
          </a:xfrm>
          <a:prstGeom prst="rect">
            <a:avLst/>
          </a:prstGeom>
          <a:noFill/>
        </p:spPr>
        <p:txBody>
          <a:bodyPr wrap="square" anchor="t" lIns="0" rIns="0" tIns="0" bIns="0">
            <a:spAutoFit/>
          </a:bodyPr>
          <a:lstStyle/>
          <a:p>
            <a:pPr algn="ctr">
              <a:spcAft>
                <a:spcPts val="0"/>
              </a:spcAft>
            </a:pPr>
            <a:r>
              <a:rPr sz="900" b="1" i="0">
                <a:solidFill>
                  <a:srgbClr val="000000"/>
                </a:solidFill>
                <a:latin typeface="Arial"/>
              </a:rPr>
              <a:t>150</a:t>
            </a:r>
          </a:p>
        </p:txBody>
      </p:sp>
      <p:sp>
        <p:nvSpPr>
          <p:cNvPr id="50" name="TextBox 49"/>
          <p:cNvSpPr txBox="1"/>
          <p:nvPr/>
        </p:nvSpPr>
        <p:spPr>
          <a:xfrm>
            <a:off x="10636134" y="3831335"/>
            <a:ext cx="548640" cy="201168"/>
          </a:xfrm>
          <a:prstGeom prst="rect">
            <a:avLst/>
          </a:prstGeom>
          <a:noFill/>
        </p:spPr>
        <p:txBody>
          <a:bodyPr wrap="square" anchor="t" lIns="0" rIns="0" tIns="0" bIns="0">
            <a:spAutoFit/>
          </a:bodyPr>
          <a:lstStyle/>
          <a:p>
            <a:pPr algn="ctr">
              <a:spcAft>
                <a:spcPts val="0"/>
              </a:spcAft>
            </a:pPr>
            <a:r>
              <a:rPr sz="900" b="1" i="0">
                <a:solidFill>
                  <a:srgbClr val="000000"/>
                </a:solidFill>
                <a:latin typeface="Arial"/>
              </a:rPr>
              <a:t>200+</a:t>
            </a:r>
          </a:p>
        </p:txBody>
      </p:sp>
      <p:sp>
        <p:nvSpPr>
          <p:cNvPr id="51" name="TextBox 50"/>
          <p:cNvSpPr txBox="1"/>
          <p:nvPr/>
        </p:nvSpPr>
        <p:spPr>
          <a:xfrm>
            <a:off x="5257800" y="4105655"/>
            <a:ext cx="6217920" cy="274320"/>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Band edges: WHO 20 and 100 L [4] · Jal Jeevan Mission 55 L · CPHEEO metro norm 150 L and IS 1172 upper limit 200 L [3]</a:t>
            </a:r>
          </a:p>
        </p:txBody>
      </p:sp>
      <p:cxnSp>
        <p:nvCxnSpPr>
          <p:cNvPr id="52" name="Connector 51"/>
          <p:cNvCxnSpPr/>
          <p:nvPr/>
        </p:nvCxnSpPr>
        <p:spPr>
          <a:xfrm>
            <a:off x="6670963" y="2651760"/>
            <a:ext cx="0" cy="594360"/>
          </a:xfrm>
          <a:prstGeom prst="line">
            <a:avLst/>
          </a:prstGeom>
          <a:ln w="15875">
            <a:solidFill>
              <a:srgbClr val="000000"/>
            </a:solidFill>
          </a:ln>
        </p:spPr>
      </p:cxnSp>
      <p:sp>
        <p:nvSpPr>
          <p:cNvPr id="53" name="Isosceles Triangle 52"/>
          <p:cNvSpPr/>
          <p:nvPr/>
        </p:nvSpPr>
        <p:spPr>
          <a:xfrm rot="10800000">
            <a:off x="6616099" y="3136391"/>
            <a:ext cx="109728" cy="109728"/>
          </a:xfrm>
          <a:prstGeom prst="triangle">
            <a:avLst/>
          </a:prstGeom>
          <a:solidFill>
            <a:srgbClr val="000000"/>
          </a:solidFill>
          <a:ln>
            <a:noFill/>
          </a:ln>
        </p:spPr>
        <p:txBody>
          <a:bodyPr rtlCol="0" anchor="ctr"/>
          <a:lstStyle/>
          <a:p>
            <a:pPr algn="ctr"/>
          </a:p>
        </p:txBody>
      </p:sp>
      <p:sp>
        <p:nvSpPr>
          <p:cNvPr id="54" name="TextBox 53"/>
          <p:cNvSpPr txBox="1"/>
          <p:nvPr/>
        </p:nvSpPr>
        <p:spPr>
          <a:xfrm>
            <a:off x="5120640" y="1755648"/>
            <a:ext cx="2971800" cy="868680"/>
          </a:xfrm>
          <a:prstGeom prst="rect">
            <a:avLst/>
          </a:prstGeom>
          <a:noFill/>
        </p:spPr>
        <p:txBody>
          <a:bodyPr wrap="square" anchor="t" lIns="0" rIns="0" tIns="0" bIns="0">
            <a:spAutoFit/>
          </a:bodyPr>
          <a:lstStyle/>
          <a:p>
            <a:pPr algn="l">
              <a:spcAft>
                <a:spcPts val="100"/>
              </a:spcAft>
            </a:pPr>
            <a:r>
              <a:rPr sz="1300" b="1" i="0">
                <a:solidFill>
                  <a:srgbClr val="A42530"/>
                </a:solidFill>
                <a:latin typeface="Arial"/>
              </a:rPr>
              <a:t>50 L/person/day</a:t>
            </a:r>
          </a:p>
          <a:p>
            <a:pPr algn="l">
              <a:spcAft>
                <a:spcPts val="100"/>
              </a:spcAft>
            </a:pPr>
            <a:r>
              <a:rPr sz="1050" b="0" i="0">
                <a:solidFill>
                  <a:srgbClr val="000000"/>
                </a:solidFill>
                <a:latin typeface="Arial"/>
              </a:rPr>
              <a:t>200 L/day for a family of 4 (TC-C07): flagged under-supply. They need water, not shorter showers.</a:t>
            </a:r>
          </a:p>
        </p:txBody>
      </p:sp>
      <p:cxnSp>
        <p:nvCxnSpPr>
          <p:cNvPr id="55" name="Connector 54"/>
          <p:cNvCxnSpPr/>
          <p:nvPr/>
        </p:nvCxnSpPr>
        <p:spPr>
          <a:xfrm>
            <a:off x="10049837" y="2651760"/>
            <a:ext cx="0" cy="594360"/>
          </a:xfrm>
          <a:prstGeom prst="line">
            <a:avLst/>
          </a:prstGeom>
          <a:ln w="15875">
            <a:solidFill>
              <a:srgbClr val="000000"/>
            </a:solidFill>
          </a:ln>
        </p:spPr>
      </p:cxnSp>
      <p:sp>
        <p:nvSpPr>
          <p:cNvPr id="56" name="Isosceles Triangle 55"/>
          <p:cNvSpPr/>
          <p:nvPr/>
        </p:nvSpPr>
        <p:spPr>
          <a:xfrm rot="10800000">
            <a:off x="9994973" y="3136391"/>
            <a:ext cx="109728" cy="109728"/>
          </a:xfrm>
          <a:prstGeom prst="triangle">
            <a:avLst/>
          </a:prstGeom>
          <a:solidFill>
            <a:srgbClr val="000000"/>
          </a:solidFill>
          <a:ln>
            <a:noFill/>
          </a:ln>
        </p:spPr>
        <p:txBody>
          <a:bodyPr rtlCol="0" anchor="ctr"/>
          <a:lstStyle/>
          <a:p>
            <a:pPr algn="ctr"/>
          </a:p>
        </p:txBody>
      </p:sp>
      <p:sp>
        <p:nvSpPr>
          <p:cNvPr id="57" name="TextBox 56"/>
          <p:cNvSpPr txBox="1"/>
          <p:nvPr/>
        </p:nvSpPr>
        <p:spPr>
          <a:xfrm>
            <a:off x="8458200" y="1755648"/>
            <a:ext cx="3154680" cy="868680"/>
          </a:xfrm>
          <a:prstGeom prst="rect">
            <a:avLst/>
          </a:prstGeom>
          <a:noFill/>
        </p:spPr>
        <p:txBody>
          <a:bodyPr wrap="square" anchor="t" lIns="0" rIns="0" tIns="0" bIns="0">
            <a:spAutoFit/>
          </a:bodyPr>
          <a:lstStyle/>
          <a:p>
            <a:pPr algn="r">
              <a:spcAft>
                <a:spcPts val="100"/>
              </a:spcAft>
            </a:pPr>
            <a:r>
              <a:rPr sz="1300" b="1" i="0">
                <a:solidFill>
                  <a:srgbClr val="A42530"/>
                </a:solidFill>
                <a:latin typeface="Arial"/>
              </a:rPr>
              <a:t>169.55 L/person/day</a:t>
            </a:r>
          </a:p>
          <a:p>
            <a:pPr algn="r">
              <a:spcAft>
                <a:spcPts val="100"/>
              </a:spcAft>
            </a:pPr>
            <a:r>
              <a:rPr sz="1050" b="0" i="0">
                <a:solidFill>
                  <a:srgbClr val="000000"/>
                </a:solidFill>
                <a:latin typeface="Arial"/>
              </a:rPr>
              <a:t>Our test household of 4 in Mumbai (TC-C01): flagged over-use against the 150 L norm.</a:t>
            </a:r>
          </a:p>
        </p:txBody>
      </p:sp>
      <p:sp>
        <p:nvSpPr>
          <p:cNvPr id="58" name="Rounded Rectangle 57"/>
          <p:cNvSpPr/>
          <p:nvPr/>
        </p:nvSpPr>
        <p:spPr>
          <a:xfrm>
            <a:off x="548640" y="5230368"/>
            <a:ext cx="11109960" cy="603504"/>
          </a:xfrm>
          <a:prstGeom prst="roundRect">
            <a:avLst>
              <a:gd name="adj" fmla="val 12000"/>
            </a:avLst>
          </a:prstGeom>
          <a:solidFill>
            <a:srgbClr val="E7E6E6"/>
          </a:solidFill>
          <a:ln>
            <a:noFill/>
          </a:ln>
        </p:spPr>
        <p:txBody>
          <a:bodyPr rtlCol="0" anchor="ctr"/>
          <a:lstStyle/>
          <a:p>
            <a:pPr algn="ctr"/>
          </a:p>
        </p:txBody>
      </p:sp>
      <p:sp>
        <p:nvSpPr>
          <p:cNvPr id="59" name="TextBox 58"/>
          <p:cNvSpPr txBox="1"/>
          <p:nvPr/>
        </p:nvSpPr>
        <p:spPr>
          <a:xfrm>
            <a:off x="777240" y="5230368"/>
            <a:ext cx="10698480" cy="603504"/>
          </a:xfrm>
          <a:prstGeom prst="rect">
            <a:avLst/>
          </a:prstGeom>
          <a:noFill/>
        </p:spPr>
        <p:txBody>
          <a:bodyPr wrap="square" anchor="ctr" lIns="0" rIns="0" tIns="0" bIns="0">
            <a:spAutoFit/>
          </a:bodyPr>
          <a:lstStyle/>
          <a:p>
            <a:pPr algn="l">
              <a:spcAft>
                <a:spcPts val="0"/>
              </a:spcAft>
            </a:pPr>
            <a:r>
              <a:rPr sz="1300" b="1" i="0">
                <a:solidFill>
                  <a:srgbClr val="A42530"/>
                </a:solidFill>
                <a:latin typeface="Arial"/>
              </a:rPr>
              <a:t>The gap: </a:t>
            </a:r>
            <a:r>
              <a:rPr sz="1300" b="0" i="0">
                <a:solidFill>
                  <a:srgbClr val="000000"/>
                </a:solidFill>
                <a:latin typeface="Arial"/>
              </a:rPr>
              <a:t>awareness sites say “save water”; none tells a household its own number, what to do at 2 a.m. when the tap runs brown, or who in the building fixes it.</a:t>
            </a:r>
          </a:p>
        </p:txBody>
      </p:sp>
    </p:spTree>
    <p:extLst>
      <p:ext uri="{BB962C8B-B14F-4D97-AF65-F5344CB8AC3E}">
        <p14:creationId xmlns:p14="http://schemas.microsoft.com/office/powerpoint/2010/main" val="3000513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txBox="1">
            <a:spLocks noGrp="1"/>
          </p:cNvSpPr>
          <p:nvPr>
            <p:ph type="ctrTitle"/>
          </p:nvPr>
        </p:nvSpPr>
        <p:spPr>
          <a:xfrm>
            <a:off x="2606040" y="201168"/>
            <a:ext cx="8458200" cy="960120"/>
          </a:xfrm>
          <a:prstGeom prst="rect">
            <a:avLst/>
          </a:prstGeom>
          <a:noFill/>
          <a:ln>
            <a:noFill/>
          </a:ln>
        </p:spPr>
        <p:txBody>
          <a:bodyPr spcFirstLastPara="1" wrap="square" lIns="91425" tIns="45700" rIns="91425" bIns="45700" anchor="ctr" anchorCtr="0">
            <a:noAutofit/>
          </a:bodyPr>
          <a:lstStyle/>
          <a:p>
            <a:pPr marL="0" lvl="0" indent="0" algn="ctr" rtl="0">
              <a:lnSpc>
                <a:spcPct val="95000"/>
              </a:lnSpc>
              <a:spcBef>
                <a:spcPts val="0"/>
              </a:spcBef>
              <a:spcAft>
                <a:spcPts val="0"/>
              </a:spcAft>
              <a:buClr>
                <a:srgbClr val="A42530"/>
              </a:buClr>
              <a:buSzPts val="6000"/>
              <a:buFont typeface="Marcellus"/>
              <a:buNone/>
            </a:pPr>
            <a:r>
              <a:rPr lang="en-IN" sz="2200" dirty="0" b="1">
                <a:solidFill>
                  <a:srgbClr val="000000"/>
                </a:solidFill>
                <a:latin typeface="Arial"/>
              </a:rPr>
              <a:t>One formula module runs in the browser and on the server, so a guest’s result and a saved result cannot disagree</a:t>
            </a:r>
            <a:endParaRPr sz="3600" dirty="0"/>
          </a:p>
        </p:txBody>
      </p:sp>
      <p:sp>
        <p:nvSpPr>
          <p:cNvPr id="2" name="Google Shape;28;p6">
            <a:extLst>
              <a:ext uri="{FF2B5EF4-FFF2-40B4-BE49-F238E27FC236}">
                <a16:creationId xmlns="" xmlns:a16="http://schemas.microsoft.com/office/drawing/2014/main" id="{549F0C40-71EF-DDDF-2F69-F15733F9223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 xmlns:a16="http://schemas.microsoft.com/office/drawing/2014/main" id="{BD9EB9F3-ACCC-CA29-82D0-199936CB5A5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 xmlns:a16="http://schemas.microsoft.com/office/drawing/2014/main" id="{43F358E2-BE0A-24B2-4518-941E0E4D61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2</a:t>
            </a:fld>
            <a:endParaRPr lang="en-US" dirty="0"/>
          </a:p>
        </p:txBody>
      </p:sp>
      <p:pic>
        <p:nvPicPr>
          <p:cNvPr id="21" name="Picture 20" descr="arch.png"/>
          <p:cNvPicPr>
            <a:picLocks noChangeAspect="1"/>
          </p:cNvPicPr>
          <p:nvPr/>
        </p:nvPicPr>
        <p:blipFill>
          <a:blip r:embed="rId2"/>
          <a:stretch>
            <a:fillRect/>
          </a:stretch>
        </p:blipFill>
        <p:spPr>
          <a:xfrm>
            <a:off x="502920" y="1298448"/>
            <a:ext cx="8183879" cy="3426999"/>
          </a:xfrm>
          <a:prstGeom prst="rect">
            <a:avLst/>
          </a:prstGeom>
          <a:ln w="9525">
            <a:solidFill>
              <a:srgbClr val="8C8C8C"/>
            </a:solidFill>
          </a:ln>
        </p:spPr>
      </p:pic>
      <p:sp>
        <p:nvSpPr>
          <p:cNvPr id="22" name="Oval 21"/>
          <p:cNvSpPr/>
          <p:nvPr/>
        </p:nvSpPr>
        <p:spPr>
          <a:xfrm>
            <a:off x="2634138" y="1400746"/>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1</a:t>
            </a:r>
          </a:p>
        </p:txBody>
      </p:sp>
      <p:sp>
        <p:nvSpPr>
          <p:cNvPr id="23" name="Oval 22"/>
          <p:cNvSpPr/>
          <p:nvPr/>
        </p:nvSpPr>
        <p:spPr>
          <a:xfrm>
            <a:off x="3294816" y="3779186"/>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2</a:t>
            </a:r>
          </a:p>
        </p:txBody>
      </p:sp>
      <p:sp>
        <p:nvSpPr>
          <p:cNvPr id="24" name="Oval 23"/>
          <p:cNvSpPr/>
          <p:nvPr/>
        </p:nvSpPr>
        <p:spPr>
          <a:xfrm>
            <a:off x="5779817" y="2815875"/>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3</a:t>
            </a:r>
          </a:p>
        </p:txBody>
      </p:sp>
      <p:sp>
        <p:nvSpPr>
          <p:cNvPr id="25" name="Oval 24"/>
          <p:cNvSpPr/>
          <p:nvPr/>
        </p:nvSpPr>
        <p:spPr>
          <a:xfrm>
            <a:off x="8961120" y="1344168"/>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1</a:t>
            </a:r>
          </a:p>
        </p:txBody>
      </p:sp>
      <p:sp>
        <p:nvSpPr>
          <p:cNvPr id="26" name="TextBox 25"/>
          <p:cNvSpPr txBox="1"/>
          <p:nvPr/>
        </p:nvSpPr>
        <p:spPr>
          <a:xfrm>
            <a:off x="9326880" y="1325880"/>
            <a:ext cx="2395728" cy="274320"/>
          </a:xfrm>
          <a:prstGeom prst="rect">
            <a:avLst/>
          </a:prstGeom>
          <a:noFill/>
        </p:spPr>
        <p:txBody>
          <a:bodyPr wrap="square" anchor="t" lIns="0" rIns="0" tIns="0" bIns="0">
            <a:spAutoFit/>
          </a:bodyPr>
          <a:lstStyle/>
          <a:p>
            <a:pPr algn="l">
              <a:spcAft>
                <a:spcPts val="0"/>
              </a:spcAft>
            </a:pPr>
            <a:r>
              <a:rPr sz="1200" b="1" i="0">
                <a:solidFill>
                  <a:srgbClr val="000000"/>
                </a:solidFill>
                <a:latin typeface="Arial"/>
              </a:rPr>
              <a:t>Three tiers</a:t>
            </a:r>
          </a:p>
        </p:txBody>
      </p:sp>
      <p:sp>
        <p:nvSpPr>
          <p:cNvPr id="27" name="TextBox 26"/>
          <p:cNvSpPr txBox="1"/>
          <p:nvPr/>
        </p:nvSpPr>
        <p:spPr>
          <a:xfrm>
            <a:off x="9345168" y="1636776"/>
            <a:ext cx="2331720" cy="731520"/>
          </a:xfrm>
          <a:prstGeom prst="rect">
            <a:avLst/>
          </a:prstGeom>
          <a:noFill/>
        </p:spPr>
        <p:txBody>
          <a:bodyPr wrap="square" anchor="t" lIns="0" rIns="0" tIns="0" bIns="0">
            <a:spAutoFit/>
          </a:bodyPr>
          <a:lstStyle/>
          <a:p>
            <a:pPr algn="l">
              <a:spcAft>
                <a:spcPts val="0"/>
              </a:spcAft>
            </a:pPr>
            <a:r>
              <a:rPr sz="1050" b="0" i="0">
                <a:solidFill>
                  <a:srgbClr val="000000"/>
                </a:solidFill>
                <a:latin typeface="Arial"/>
              </a:rPr>
              <a:t>React 18 + Bootstrap 5.3 client; Express 4 REST API with express-session; MongoDB (Atlas in production).</a:t>
            </a:r>
          </a:p>
        </p:txBody>
      </p:sp>
      <p:sp>
        <p:nvSpPr>
          <p:cNvPr id="28" name="TextBox 27"/>
          <p:cNvSpPr txBox="1"/>
          <p:nvPr/>
        </p:nvSpPr>
        <p:spPr>
          <a:xfrm>
            <a:off x="9345168" y="2295144"/>
            <a:ext cx="2331720" cy="274320"/>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server/src/app.js</a:t>
            </a:r>
          </a:p>
        </p:txBody>
      </p:sp>
      <p:sp>
        <p:nvSpPr>
          <p:cNvPr id="29" name="Oval 28"/>
          <p:cNvSpPr/>
          <p:nvPr/>
        </p:nvSpPr>
        <p:spPr>
          <a:xfrm>
            <a:off x="8961120" y="2825496"/>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2</a:t>
            </a:r>
          </a:p>
        </p:txBody>
      </p:sp>
      <p:sp>
        <p:nvSpPr>
          <p:cNvPr id="30" name="TextBox 29"/>
          <p:cNvSpPr txBox="1"/>
          <p:nvPr/>
        </p:nvSpPr>
        <p:spPr>
          <a:xfrm>
            <a:off x="9326880" y="2807208"/>
            <a:ext cx="2395728" cy="274320"/>
          </a:xfrm>
          <a:prstGeom prst="rect">
            <a:avLst/>
          </a:prstGeom>
          <a:noFill/>
        </p:spPr>
        <p:txBody>
          <a:bodyPr wrap="square" anchor="t" lIns="0" rIns="0" tIns="0" bIns="0">
            <a:spAutoFit/>
          </a:bodyPr>
          <a:lstStyle/>
          <a:p>
            <a:pPr algn="l">
              <a:spcAft>
                <a:spcPts val="0"/>
              </a:spcAft>
            </a:pPr>
            <a:r>
              <a:rPr sz="1200" b="1" i="0">
                <a:solidFill>
                  <a:srgbClr val="000000"/>
                </a:solidFill>
                <a:latin typeface="Arial"/>
              </a:rPr>
              <a:t>One shared module</a:t>
            </a:r>
          </a:p>
        </p:txBody>
      </p:sp>
      <p:sp>
        <p:nvSpPr>
          <p:cNvPr id="31" name="TextBox 30"/>
          <p:cNvSpPr txBox="1"/>
          <p:nvPr/>
        </p:nvSpPr>
        <p:spPr>
          <a:xfrm>
            <a:off x="9345168" y="3118104"/>
            <a:ext cx="2331720" cy="731520"/>
          </a:xfrm>
          <a:prstGeom prst="rect">
            <a:avLst/>
          </a:prstGeom>
          <a:noFill/>
        </p:spPr>
        <p:txBody>
          <a:bodyPr wrap="square" anchor="t" lIns="0" rIns="0" tIns="0" bIns="0">
            <a:spAutoFit/>
          </a:bodyPr>
          <a:lstStyle/>
          <a:p>
            <a:pPr algn="l">
              <a:spcAft>
                <a:spcPts val="0"/>
              </a:spcAft>
            </a:pPr>
            <a:r>
              <a:rPr sz="1050" b="0" i="0">
                <a:solidFill>
                  <a:srgbClr val="000000"/>
                </a:solidFill>
                <a:latin typeface="Arial"/>
              </a:rPr>
              <a:t>Browser and server import the same shared/calculator.js and shared/advisory.js.</a:t>
            </a:r>
          </a:p>
        </p:txBody>
      </p:sp>
      <p:sp>
        <p:nvSpPr>
          <p:cNvPr id="32" name="TextBox 31"/>
          <p:cNvSpPr txBox="1"/>
          <p:nvPr/>
        </p:nvSpPr>
        <p:spPr>
          <a:xfrm>
            <a:off x="9345168" y="3776472"/>
            <a:ext cx="2331720" cy="274320"/>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TC-API-22: API result = module result, 678.18 L/day</a:t>
            </a:r>
          </a:p>
        </p:txBody>
      </p:sp>
      <p:sp>
        <p:nvSpPr>
          <p:cNvPr id="33" name="Oval 32"/>
          <p:cNvSpPr/>
          <p:nvPr/>
        </p:nvSpPr>
        <p:spPr>
          <a:xfrm>
            <a:off x="8961120" y="4306824"/>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3</a:t>
            </a:r>
          </a:p>
        </p:txBody>
      </p:sp>
      <p:sp>
        <p:nvSpPr>
          <p:cNvPr id="34" name="TextBox 33"/>
          <p:cNvSpPr txBox="1"/>
          <p:nvPr/>
        </p:nvSpPr>
        <p:spPr>
          <a:xfrm>
            <a:off x="9326880" y="4288536"/>
            <a:ext cx="2395728" cy="274320"/>
          </a:xfrm>
          <a:prstGeom prst="rect">
            <a:avLst/>
          </a:prstGeom>
          <a:noFill/>
        </p:spPr>
        <p:txBody>
          <a:bodyPr wrap="square" anchor="t" lIns="0" rIns="0" tIns="0" bIns="0">
            <a:spAutoFit/>
          </a:bodyPr>
          <a:lstStyle/>
          <a:p>
            <a:pPr algn="l">
              <a:spcAft>
                <a:spcPts val="0"/>
              </a:spcAft>
            </a:pPr>
            <a:r>
              <a:rPr sz="1200" b="1" i="0">
                <a:solidFill>
                  <a:srgbClr val="000000"/>
                </a:solidFill>
                <a:latin typeface="Arial"/>
              </a:rPr>
              <a:t>Client numbers never trusted</a:t>
            </a:r>
          </a:p>
        </p:txBody>
      </p:sp>
      <p:sp>
        <p:nvSpPr>
          <p:cNvPr id="35" name="TextBox 34"/>
          <p:cNvSpPr txBox="1"/>
          <p:nvPr/>
        </p:nvSpPr>
        <p:spPr>
          <a:xfrm>
            <a:off x="9345168" y="4599432"/>
            <a:ext cx="2331720" cy="731520"/>
          </a:xfrm>
          <a:prstGeom prst="rect">
            <a:avLst/>
          </a:prstGeom>
          <a:noFill/>
        </p:spPr>
        <p:txBody>
          <a:bodyPr wrap="square" anchor="t" lIns="0" rIns="0" tIns="0" bIns="0">
            <a:spAutoFit/>
          </a:bodyPr>
          <a:lstStyle/>
          <a:p>
            <a:pPr algn="l">
              <a:spcAft>
                <a:spcPts val="0"/>
              </a:spcAft>
            </a:pPr>
            <a:r>
              <a:rPr sz="1050" b="0" i="0">
                <a:solidFill>
                  <a:srgbClr val="000000"/>
                </a:solidFill>
                <a:latin typeface="Arial"/>
              </a:rPr>
              <a:t>Every route validates its input; results sent in a request body are discarded and recomputed.</a:t>
            </a:r>
          </a:p>
        </p:txBody>
      </p:sp>
      <p:sp>
        <p:nvSpPr>
          <p:cNvPr id="36" name="TextBox 35"/>
          <p:cNvSpPr txBox="1"/>
          <p:nvPr/>
        </p:nvSpPr>
        <p:spPr>
          <a:xfrm>
            <a:off x="9345168" y="5257800"/>
            <a:ext cx="2331720" cy="274320"/>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TC-API-24: forged total discarded, server figure stored</a:t>
            </a:r>
          </a:p>
        </p:txBody>
      </p:sp>
      <p:sp>
        <p:nvSpPr>
          <p:cNvPr id="37" name="Rectangle 36"/>
          <p:cNvSpPr/>
          <p:nvPr/>
        </p:nvSpPr>
        <p:spPr>
          <a:xfrm>
            <a:off x="502920" y="4919472"/>
            <a:ext cx="8183879" cy="896112"/>
          </a:xfrm>
          <a:prstGeom prst="rect">
            <a:avLst/>
          </a:prstGeom>
          <a:solidFill>
            <a:srgbClr val="E7E6E6"/>
          </a:solidFill>
          <a:ln>
            <a:noFill/>
          </a:ln>
        </p:spPr>
        <p:txBody>
          <a:bodyPr rtlCol="0" anchor="ctr"/>
          <a:lstStyle/>
          <a:p>
            <a:pPr algn="ctr"/>
          </a:p>
        </p:txBody>
      </p:sp>
      <p:sp>
        <p:nvSpPr>
          <p:cNvPr id="38" name="TextBox 37"/>
          <p:cNvSpPr txBox="1"/>
          <p:nvPr/>
        </p:nvSpPr>
        <p:spPr>
          <a:xfrm>
            <a:off x="685800" y="4992624"/>
            <a:ext cx="7863840" cy="777240"/>
          </a:xfrm>
          <a:prstGeom prst="rect">
            <a:avLst/>
          </a:prstGeom>
          <a:noFill/>
        </p:spPr>
        <p:txBody>
          <a:bodyPr wrap="square" anchor="t" lIns="0" rIns="0" tIns="0" bIns="0">
            <a:spAutoFit/>
          </a:bodyPr>
          <a:lstStyle/>
          <a:p>
            <a:pPr algn="l">
              <a:spcAft>
                <a:spcPts val="0"/>
              </a:spcAft>
            </a:pPr>
            <a:r>
              <a:rPr sz="950" b="0" i="0">
                <a:solidFill>
                  <a:srgbClr val="44546A"/>
                </a:solidFill>
                <a:latin typeface="Courier New"/>
              </a:rPr>
              <a:t>// client/src/pages/Calculator.jsx</a:t>
            </a:r>
          </a:p>
          <a:p>
            <a:pPr algn="l">
              <a:spcAft>
                <a:spcPts val="0"/>
              </a:spcAft>
            </a:pPr>
            <a:r>
              <a:rPr sz="1050" b="0" i="0">
                <a:solidFill>
                  <a:srgbClr val="000000"/>
                </a:solidFill>
                <a:latin typeface="Courier New"/>
              </a:rPr>
              <a:t>import { calculate, defaultInputs, … } from </a:t>
            </a:r>
            <a:r>
              <a:rPr sz="1050" b="1" i="0">
                <a:solidFill>
                  <a:srgbClr val="A42530"/>
                </a:solidFill>
                <a:latin typeface="Courier New"/>
              </a:rPr>
              <a:t>'@shared/calculator.js'</a:t>
            </a:r>
          </a:p>
          <a:p>
            <a:pPr algn="l">
              <a:spcAft>
                <a:spcPts val="0"/>
              </a:spcAft>
            </a:pPr>
            <a:r>
              <a:rPr sz="950" b="0" i="0">
                <a:solidFill>
                  <a:srgbClr val="44546A"/>
                </a:solidFill>
                <a:latin typeface="Courier New"/>
              </a:rPr>
              <a:t>// server/src/controllers/calculatorController.js</a:t>
            </a:r>
          </a:p>
          <a:p>
            <a:pPr algn="l">
              <a:spcAft>
                <a:spcPts val="0"/>
              </a:spcAft>
            </a:pPr>
            <a:r>
              <a:rPr sz="1050" b="0" i="0">
                <a:solidFill>
                  <a:srgbClr val="000000"/>
                </a:solidFill>
                <a:latin typeface="Courier New"/>
              </a:rPr>
              <a:t>import { calculate } from </a:t>
            </a:r>
            <a:r>
              <a:rPr sz="1050" b="1" i="0">
                <a:solidFill>
                  <a:srgbClr val="A42530"/>
                </a:solidFill>
                <a:latin typeface="Courier New"/>
              </a:rPr>
              <a:t>'../../../shared/calculator.js'</a:t>
            </a:r>
          </a:p>
        </p:txBody>
      </p:sp>
      <p:sp>
        <p:nvSpPr>
          <p:cNvPr id="39" name="TextBox 38"/>
          <p:cNvSpPr txBox="1"/>
          <p:nvPr/>
        </p:nvSpPr>
        <p:spPr>
          <a:xfrm>
            <a:off x="502920" y="5833872"/>
            <a:ext cx="8183879" cy="201168"/>
          </a:xfrm>
          <a:prstGeom prst="rect">
            <a:avLst/>
          </a:prstGeom>
          <a:noFill/>
        </p:spPr>
        <p:txBody>
          <a:bodyPr wrap="square" anchor="t" lIns="0" rIns="0" tIns="0" bIns="0">
            <a:spAutoFit/>
          </a:bodyPr>
          <a:lstStyle/>
          <a:p>
            <a:pPr algn="l">
              <a:spcAft>
                <a:spcPts val="0"/>
              </a:spcAft>
            </a:pPr>
            <a:r>
              <a:rPr sz="900" b="0" i="0">
                <a:solidFill>
                  <a:srgbClr val="44546A"/>
                </a:solidFill>
                <a:latin typeface="Arial"/>
              </a:rPr>
              <a:t>Our architecture diagram (top) and the same import in both tiers, verbatim from the repository (bottom)</a:t>
            </a:r>
          </a:p>
        </p:txBody>
      </p:sp>
    </p:spTree>
    <p:extLst>
      <p:ext uri="{BB962C8B-B14F-4D97-AF65-F5344CB8AC3E}">
        <p14:creationId xmlns:p14="http://schemas.microsoft.com/office/powerpoint/2010/main" val="3000513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txBox="1">
            <a:spLocks noGrp="1"/>
          </p:cNvSpPr>
          <p:nvPr>
            <p:ph type="ctrTitle"/>
          </p:nvPr>
        </p:nvSpPr>
        <p:spPr>
          <a:xfrm>
            <a:off x="2606040" y="201168"/>
            <a:ext cx="8458200" cy="960120"/>
          </a:xfrm>
          <a:prstGeom prst="rect">
            <a:avLst/>
          </a:prstGeom>
          <a:noFill/>
          <a:ln>
            <a:noFill/>
          </a:ln>
        </p:spPr>
        <p:txBody>
          <a:bodyPr spcFirstLastPara="1" wrap="square" lIns="91425" tIns="45700" rIns="91425" bIns="45700" anchor="ctr" anchorCtr="0">
            <a:noAutofit/>
          </a:bodyPr>
          <a:lstStyle/>
          <a:p>
            <a:pPr marL="0" lvl="0" indent="0" algn="ctr" rtl="0">
              <a:lnSpc>
                <a:spcPct val="95000"/>
              </a:lnSpc>
              <a:spcBef>
                <a:spcPts val="0"/>
              </a:spcBef>
              <a:spcAft>
                <a:spcPts val="0"/>
              </a:spcAft>
              <a:buClr>
                <a:srgbClr val="A42530"/>
              </a:buClr>
              <a:buSzPts val="6000"/>
              <a:buFont typeface="Marcellus"/>
              <a:buNone/>
            </a:pPr>
            <a:r>
              <a:rPr lang="en-IN" sz="2200" dirty="0" b="1">
                <a:solidFill>
                  <a:srgbClr val="000000"/>
                </a:solidFill>
                <a:latin typeface="Arial"/>
              </a:rPr>
              <a:t>Each tool ends in something to do today: a ranked saving, a numbered step with a number to call, or a routed complaint</a:t>
            </a:r>
            <a:endParaRPr sz="3600" dirty="0"/>
          </a:p>
        </p:txBody>
      </p:sp>
      <p:sp>
        <p:nvSpPr>
          <p:cNvPr id="2" name="Google Shape;28;p6">
            <a:extLst>
              <a:ext uri="{FF2B5EF4-FFF2-40B4-BE49-F238E27FC236}">
                <a16:creationId xmlns="" xmlns:a16="http://schemas.microsoft.com/office/drawing/2014/main" id="{549F0C40-71EF-DDDF-2F69-F15733F9223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 xmlns:a16="http://schemas.microsoft.com/office/drawing/2014/main" id="{BD9EB9F3-ACCC-CA29-82D0-199936CB5A5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 xmlns:a16="http://schemas.microsoft.com/office/drawing/2014/main" id="{43F358E2-BE0A-24B2-4518-941E0E4D61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2</a:t>
            </a:fld>
            <a:endParaRPr lang="en-US" dirty="0"/>
          </a:p>
        </p:txBody>
      </p:sp>
      <p:sp>
        <p:nvSpPr>
          <p:cNvPr id="21" name="Oval 20"/>
          <p:cNvSpPr/>
          <p:nvPr/>
        </p:nvSpPr>
        <p:spPr>
          <a:xfrm>
            <a:off x="502920" y="1325880"/>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1</a:t>
            </a:r>
          </a:p>
        </p:txBody>
      </p:sp>
      <p:sp>
        <p:nvSpPr>
          <p:cNvPr id="22" name="TextBox 21"/>
          <p:cNvSpPr txBox="1"/>
          <p:nvPr/>
        </p:nvSpPr>
        <p:spPr>
          <a:xfrm>
            <a:off x="868680" y="1316736"/>
            <a:ext cx="3246120" cy="292608"/>
          </a:xfrm>
          <a:prstGeom prst="rect">
            <a:avLst/>
          </a:prstGeom>
          <a:noFill/>
        </p:spPr>
        <p:txBody>
          <a:bodyPr wrap="square" anchor="ctr" lIns="0" rIns="0" tIns="0" bIns="0">
            <a:spAutoFit/>
          </a:bodyPr>
          <a:lstStyle/>
          <a:p>
            <a:pPr algn="l">
              <a:spcAft>
                <a:spcPts val="0"/>
              </a:spcAft>
            </a:pPr>
            <a:r>
              <a:rPr sz="1400" b="1" i="0">
                <a:solidFill>
                  <a:srgbClr val="000000"/>
                </a:solidFill>
                <a:latin typeface="Arial"/>
              </a:rPr>
              <a:t>Water usage calculator</a:t>
            </a:r>
          </a:p>
        </p:txBody>
      </p:sp>
      <p:sp>
        <p:nvSpPr>
          <p:cNvPr id="23" name="Oval 22"/>
          <p:cNvSpPr/>
          <p:nvPr/>
        </p:nvSpPr>
        <p:spPr>
          <a:xfrm>
            <a:off x="4270248" y="1325880"/>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2</a:t>
            </a:r>
          </a:p>
        </p:txBody>
      </p:sp>
      <p:sp>
        <p:nvSpPr>
          <p:cNvPr id="24" name="TextBox 23"/>
          <p:cNvSpPr txBox="1"/>
          <p:nvPr/>
        </p:nvSpPr>
        <p:spPr>
          <a:xfrm>
            <a:off x="4636008" y="1316736"/>
            <a:ext cx="3246120" cy="292608"/>
          </a:xfrm>
          <a:prstGeom prst="rect">
            <a:avLst/>
          </a:prstGeom>
          <a:noFill/>
        </p:spPr>
        <p:txBody>
          <a:bodyPr wrap="square" anchor="ctr" lIns="0" rIns="0" tIns="0" bIns="0">
            <a:spAutoFit/>
          </a:bodyPr>
          <a:lstStyle/>
          <a:p>
            <a:pPr algn="l">
              <a:spcAft>
                <a:spcPts val="0"/>
              </a:spcAft>
            </a:pPr>
            <a:r>
              <a:rPr sz="1400" b="1" i="0">
                <a:solidFill>
                  <a:srgbClr val="000000"/>
                </a:solidFill>
                <a:latin typeface="Arial"/>
              </a:rPr>
              <a:t>Crisis advisory engine</a:t>
            </a:r>
          </a:p>
        </p:txBody>
      </p:sp>
      <p:sp>
        <p:nvSpPr>
          <p:cNvPr id="25" name="Oval 24"/>
          <p:cNvSpPr/>
          <p:nvPr/>
        </p:nvSpPr>
        <p:spPr>
          <a:xfrm>
            <a:off x="8037575" y="1325880"/>
            <a:ext cx="274320" cy="274320"/>
          </a:xfrm>
          <a:prstGeom prst="ellipse">
            <a:avLst/>
          </a:prstGeom>
          <a:solidFill>
            <a:srgbClr val="A42530"/>
          </a:solidFill>
          <a:ln>
            <a:noFill/>
          </a:ln>
        </p:spPr>
        <p:txBody>
          <a:bodyPr rtlCol="0" anchor="ctr" lIns="0" rIns="0" tIns="0" bIns="0"/>
          <a:lstStyle/>
          <a:p>
            <a:pPr algn="ctr"/>
            <a:r>
              <a:rPr sz="1100" b="1">
                <a:solidFill>
                  <a:srgbClr val="FFFFFF"/>
                </a:solidFill>
                <a:latin typeface="Arial"/>
              </a:rPr>
              <a:t>3</a:t>
            </a:r>
          </a:p>
        </p:txBody>
      </p:sp>
      <p:sp>
        <p:nvSpPr>
          <p:cNvPr id="26" name="TextBox 25"/>
          <p:cNvSpPr txBox="1"/>
          <p:nvPr/>
        </p:nvSpPr>
        <p:spPr>
          <a:xfrm>
            <a:off x="8403336" y="1316736"/>
            <a:ext cx="3246120" cy="292608"/>
          </a:xfrm>
          <a:prstGeom prst="rect">
            <a:avLst/>
          </a:prstGeom>
          <a:noFill/>
        </p:spPr>
        <p:txBody>
          <a:bodyPr wrap="square" anchor="ctr" lIns="0" rIns="0" tIns="0" bIns="0">
            <a:spAutoFit/>
          </a:bodyPr>
          <a:lstStyle/>
          <a:p>
            <a:pPr algn="l">
              <a:spcAft>
                <a:spcPts val="0"/>
              </a:spcAft>
            </a:pPr>
            <a:r>
              <a:rPr sz="1400" b="1" i="0">
                <a:solidFill>
                  <a:srgbClr val="000000"/>
                </a:solidFill>
                <a:latin typeface="Arial"/>
              </a:rPr>
              <a:t>Society complaint portal</a:t>
            </a:r>
          </a:p>
        </p:txBody>
      </p:sp>
      <p:pic>
        <p:nvPicPr>
          <p:cNvPr id="27" name="Picture 26" descr="f_calc_top.png"/>
          <p:cNvPicPr>
            <a:picLocks noChangeAspect="1"/>
          </p:cNvPicPr>
          <p:nvPr/>
        </p:nvPicPr>
        <p:blipFill>
          <a:blip r:embed="rId2"/>
          <a:stretch>
            <a:fillRect/>
          </a:stretch>
        </p:blipFill>
        <p:spPr>
          <a:xfrm>
            <a:off x="1156684" y="1691640"/>
            <a:ext cx="2304351" cy="1084665"/>
          </a:xfrm>
          <a:prstGeom prst="rect">
            <a:avLst/>
          </a:prstGeom>
          <a:ln w="9525">
            <a:solidFill>
              <a:srgbClr val="8C8C8C"/>
            </a:solidFill>
          </a:ln>
        </p:spPr>
      </p:pic>
      <p:pic>
        <p:nvPicPr>
          <p:cNvPr id="28" name="Picture 27" descr="f_calc_save.png"/>
          <p:cNvPicPr>
            <a:picLocks noChangeAspect="1"/>
          </p:cNvPicPr>
          <p:nvPr/>
        </p:nvPicPr>
        <p:blipFill>
          <a:blip r:embed="rId3"/>
          <a:stretch>
            <a:fillRect/>
          </a:stretch>
        </p:blipFill>
        <p:spPr>
          <a:xfrm>
            <a:off x="1156684" y="2831169"/>
            <a:ext cx="2304351" cy="1512230"/>
          </a:xfrm>
          <a:prstGeom prst="rect">
            <a:avLst/>
          </a:prstGeom>
          <a:ln w="9525">
            <a:solidFill>
              <a:srgbClr val="8C8C8C"/>
            </a:solidFill>
          </a:ln>
        </p:spPr>
      </p:pic>
      <p:sp>
        <p:nvSpPr>
          <p:cNvPr id="29" name="TextBox 28"/>
          <p:cNvSpPr txBox="1"/>
          <p:nvPr/>
        </p:nvSpPr>
        <p:spPr>
          <a:xfrm>
            <a:off x="502920" y="4398264"/>
            <a:ext cx="3611880" cy="228600"/>
          </a:xfrm>
          <a:prstGeom prst="rect">
            <a:avLst/>
          </a:prstGeom>
          <a:noFill/>
        </p:spPr>
        <p:txBody>
          <a:bodyPr wrap="square" anchor="t" lIns="0" rIns="0" tIns="0" bIns="0">
            <a:spAutoFit/>
          </a:bodyPr>
          <a:lstStyle/>
          <a:p>
            <a:pPr algn="ctr">
              <a:spcAft>
                <a:spcPts val="0"/>
              </a:spcAft>
            </a:pPr>
            <a:r>
              <a:rPr sz="900" b="0" i="0">
                <a:solidFill>
                  <a:srgbClr val="44546A"/>
                </a:solidFill>
                <a:latin typeface="Arial"/>
              </a:rPr>
              <a:t>Result panel for the TC-C01 household, running app</a:t>
            </a:r>
          </a:p>
        </p:txBody>
      </p:sp>
      <p:pic>
        <p:nvPicPr>
          <p:cNvPr id="30" name="Picture 29" descr="f_adv.png"/>
          <p:cNvPicPr>
            <a:picLocks noChangeAspect="1"/>
          </p:cNvPicPr>
          <p:nvPr/>
        </p:nvPicPr>
        <p:blipFill>
          <a:blip r:embed="rId4"/>
          <a:stretch>
            <a:fillRect/>
          </a:stretch>
        </p:blipFill>
        <p:spPr>
          <a:xfrm>
            <a:off x="4951678" y="1691640"/>
            <a:ext cx="2249018" cy="2651760"/>
          </a:xfrm>
          <a:prstGeom prst="rect">
            <a:avLst/>
          </a:prstGeom>
          <a:ln w="9525">
            <a:solidFill>
              <a:srgbClr val="8C8C8C"/>
            </a:solidFill>
          </a:ln>
        </p:spPr>
      </p:pic>
      <p:sp>
        <p:nvSpPr>
          <p:cNvPr id="31" name="TextBox 30"/>
          <p:cNvSpPr txBox="1"/>
          <p:nvPr/>
        </p:nvSpPr>
        <p:spPr>
          <a:xfrm>
            <a:off x="4270248" y="4398264"/>
            <a:ext cx="3611880" cy="228600"/>
          </a:xfrm>
          <a:prstGeom prst="rect">
            <a:avLst/>
          </a:prstGeom>
          <a:noFill/>
        </p:spPr>
        <p:txBody>
          <a:bodyPr wrap="square" anchor="t" lIns="0" rIns="0" tIns="0" bIns="0">
            <a:spAutoFit/>
          </a:bodyPr>
          <a:lstStyle/>
          <a:p>
            <a:pPr algn="ctr">
              <a:spcAft>
                <a:spcPts val="0"/>
              </a:spcAft>
            </a:pPr>
            <a:r>
              <a:rPr sz="900" b="0" i="0">
                <a:solidFill>
                  <a:srgbClr val="44546A"/>
                </a:solidFill>
                <a:latin typeface="Arial"/>
              </a:rPr>
              <a:t>Rule LK-3 for a logged-in Sagar Darshan CHS member</a:t>
            </a:r>
          </a:p>
        </p:txBody>
      </p:sp>
      <p:pic>
        <p:nvPicPr>
          <p:cNvPr id="32" name="Picture 31" descr="f_cmp_head.png"/>
          <p:cNvPicPr>
            <a:picLocks noChangeAspect="1"/>
          </p:cNvPicPr>
          <p:nvPr/>
        </p:nvPicPr>
        <p:blipFill>
          <a:blip r:embed="rId5"/>
          <a:stretch>
            <a:fillRect/>
          </a:stretch>
        </p:blipFill>
        <p:spPr>
          <a:xfrm>
            <a:off x="8359087" y="1691640"/>
            <a:ext cx="2968856" cy="942906"/>
          </a:xfrm>
          <a:prstGeom prst="rect">
            <a:avLst/>
          </a:prstGeom>
          <a:ln w="9525">
            <a:solidFill>
              <a:srgbClr val="8C8C8C"/>
            </a:solidFill>
          </a:ln>
        </p:spPr>
      </p:pic>
      <p:pic>
        <p:nvPicPr>
          <p:cNvPr id="33" name="Picture 32" descr="f_cmp_route.png"/>
          <p:cNvPicPr>
            <a:picLocks noChangeAspect="1"/>
          </p:cNvPicPr>
          <p:nvPr/>
        </p:nvPicPr>
        <p:blipFill>
          <a:blip r:embed="rId6"/>
          <a:stretch>
            <a:fillRect/>
          </a:stretch>
        </p:blipFill>
        <p:spPr>
          <a:xfrm>
            <a:off x="8359087" y="2689410"/>
            <a:ext cx="1371600" cy="635458"/>
          </a:xfrm>
          <a:prstGeom prst="rect">
            <a:avLst/>
          </a:prstGeom>
          <a:ln w="9525">
            <a:solidFill>
              <a:srgbClr val="8C8C8C"/>
            </a:solidFill>
          </a:ln>
        </p:spPr>
      </p:pic>
      <p:pic>
        <p:nvPicPr>
          <p:cNvPr id="34" name="Picture 33" descr="f_cmp_hist.png"/>
          <p:cNvPicPr>
            <a:picLocks noChangeAspect="1"/>
          </p:cNvPicPr>
          <p:nvPr/>
        </p:nvPicPr>
        <p:blipFill>
          <a:blip r:embed="rId7"/>
          <a:stretch>
            <a:fillRect/>
          </a:stretch>
        </p:blipFill>
        <p:spPr>
          <a:xfrm>
            <a:off x="8359087" y="3379732"/>
            <a:ext cx="2968856" cy="963667"/>
          </a:xfrm>
          <a:prstGeom prst="rect">
            <a:avLst/>
          </a:prstGeom>
          <a:ln w="9525">
            <a:solidFill>
              <a:srgbClr val="8C8C8C"/>
            </a:solidFill>
          </a:ln>
        </p:spPr>
      </p:pic>
      <p:sp>
        <p:nvSpPr>
          <p:cNvPr id="35" name="TextBox 34"/>
          <p:cNvSpPr txBox="1"/>
          <p:nvPr/>
        </p:nvSpPr>
        <p:spPr>
          <a:xfrm>
            <a:off x="9840415" y="2762562"/>
            <a:ext cx="1487528" cy="544018"/>
          </a:xfrm>
          <a:prstGeom prst="rect">
            <a:avLst/>
          </a:prstGeom>
          <a:noFill/>
        </p:spPr>
        <p:txBody>
          <a:bodyPr wrap="square" anchor="t" lIns="0" rIns="0" tIns="0" bIns="0">
            <a:spAutoFit/>
          </a:bodyPr>
          <a:lstStyle/>
          <a:p>
            <a:pPr algn="l">
              <a:spcAft>
                <a:spcPts val="0"/>
              </a:spcAft>
            </a:pPr>
            <a:r>
              <a:rPr sz="1000" b="1" i="0">
                <a:solidFill>
                  <a:srgbClr val="000000"/>
                </a:solidFill>
                <a:latin typeface="Arial"/>
              </a:rPr>
              <a:t>Routed by category</a:t>
            </a:r>
          </a:p>
          <a:p>
            <a:pPr algn="l">
              <a:spcAft>
                <a:spcPts val="0"/>
              </a:spcAft>
            </a:pPr>
            <a:r>
              <a:rPr sz="1000" b="0" i="0">
                <a:solidFill>
                  <a:srgbClr val="44546A"/>
                </a:solidFill>
                <a:latin typeface="Arial"/>
              </a:rPr>
              <a:t>not to the admin</a:t>
            </a:r>
          </a:p>
        </p:txBody>
      </p:sp>
      <p:sp>
        <p:nvSpPr>
          <p:cNvPr id="36" name="TextBox 35"/>
          <p:cNvSpPr txBox="1"/>
          <p:nvPr/>
        </p:nvSpPr>
        <p:spPr>
          <a:xfrm>
            <a:off x="8037575" y="4398264"/>
            <a:ext cx="3611880" cy="228600"/>
          </a:xfrm>
          <a:prstGeom prst="rect">
            <a:avLst/>
          </a:prstGeom>
          <a:noFill/>
        </p:spPr>
        <p:txBody>
          <a:bodyPr wrap="square" anchor="t" lIns="0" rIns="0" tIns="0" bIns="0">
            <a:spAutoFit/>
          </a:bodyPr>
          <a:lstStyle/>
          <a:p>
            <a:pPr algn="ctr">
              <a:spcAft>
                <a:spcPts val="0"/>
              </a:spcAft>
            </a:pPr>
            <a:r>
              <a:rPr sz="900" b="0" i="0">
                <a:solidFill>
                  <a:srgbClr val="44546A"/>
                </a:solidFill>
                <a:latin typeface="Arial"/>
              </a:rPr>
              <a:t>AQW-2026-0004 after the admin moved it to in progress</a:t>
            </a:r>
          </a:p>
        </p:txBody>
      </p:sp>
      <p:cxnSp>
        <p:nvCxnSpPr>
          <p:cNvPr id="37" name="Connector 36"/>
          <p:cNvCxnSpPr/>
          <p:nvPr/>
        </p:nvCxnSpPr>
        <p:spPr>
          <a:xfrm>
            <a:off x="502920" y="4681728"/>
            <a:ext cx="3611880" cy="0"/>
          </a:xfrm>
          <a:prstGeom prst="line">
            <a:avLst/>
          </a:prstGeom>
          <a:ln w="9525">
            <a:solidFill>
              <a:srgbClr val="BFBFBF"/>
            </a:solidFill>
          </a:ln>
        </p:spPr>
      </p:cxnSp>
      <p:sp>
        <p:nvSpPr>
          <p:cNvPr id="38" name="TextBox 37"/>
          <p:cNvSpPr txBox="1"/>
          <p:nvPr/>
        </p:nvSpPr>
        <p:spPr>
          <a:xfrm>
            <a:off x="502920" y="4773168"/>
            <a:ext cx="3611880" cy="960120"/>
          </a:xfrm>
          <a:prstGeom prst="rect">
            <a:avLst/>
          </a:prstGeom>
          <a:noFill/>
        </p:spPr>
        <p:txBody>
          <a:bodyPr wrap="square" anchor="t" lIns="0" rIns="0" tIns="0" bIns="0">
            <a:spAutoFit/>
          </a:bodyPr>
          <a:lstStyle/>
          <a:p>
            <a:pPr algn="l">
              <a:spcAft>
                <a:spcPts val="0"/>
              </a:spcAft>
            </a:pPr>
            <a:r>
              <a:rPr sz="1100" b="1" i="0">
                <a:solidFill>
                  <a:srgbClr val="000000"/>
                </a:solidFill>
                <a:latin typeface="Arial"/>
              </a:rPr>
              <a:t>8 activity terms</a:t>
            </a:r>
            <a:r>
              <a:rPr sz="1100" b="0" i="0">
                <a:solidFill>
                  <a:srgbClr val="000000"/>
                </a:solidFill>
                <a:latin typeface="Arial"/>
              </a:rPr>
              <a:t> checked against CPHEEO and WHO norms. 678.18 L/day = 169.55 L/person/day: over-use at 150. Top fix saves 58.97 L/day.</a:t>
            </a:r>
          </a:p>
        </p:txBody>
      </p:sp>
      <p:sp>
        <p:nvSpPr>
          <p:cNvPr id="39" name="TextBox 38"/>
          <p:cNvSpPr txBox="1"/>
          <p:nvPr/>
        </p:nvSpPr>
        <p:spPr>
          <a:xfrm>
            <a:off x="502920" y="5522976"/>
            <a:ext cx="3611880" cy="201168"/>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TC-C01, TC-C09 · shower flow: US EPA WaterSense [5]</a:t>
            </a:r>
          </a:p>
        </p:txBody>
      </p:sp>
      <p:cxnSp>
        <p:nvCxnSpPr>
          <p:cNvPr id="40" name="Connector 39"/>
          <p:cNvCxnSpPr/>
          <p:nvPr/>
        </p:nvCxnSpPr>
        <p:spPr>
          <a:xfrm>
            <a:off x="4270248" y="4681728"/>
            <a:ext cx="3611880" cy="0"/>
          </a:xfrm>
          <a:prstGeom prst="line">
            <a:avLst/>
          </a:prstGeom>
          <a:ln w="9525">
            <a:solidFill>
              <a:srgbClr val="BFBFBF"/>
            </a:solidFill>
          </a:ln>
        </p:spPr>
      </p:cxnSp>
      <p:sp>
        <p:nvSpPr>
          <p:cNvPr id="41" name="TextBox 40"/>
          <p:cNvSpPr txBox="1"/>
          <p:nvPr/>
        </p:nvSpPr>
        <p:spPr>
          <a:xfrm>
            <a:off x="4270248" y="4773168"/>
            <a:ext cx="3611880" cy="960120"/>
          </a:xfrm>
          <a:prstGeom prst="rect">
            <a:avLst/>
          </a:prstGeom>
          <a:noFill/>
        </p:spPr>
        <p:txBody>
          <a:bodyPr wrap="square" anchor="t" lIns="0" rIns="0" tIns="0" bIns="0">
            <a:spAutoFit/>
          </a:bodyPr>
          <a:lstStyle/>
          <a:p>
            <a:pPr algn="l">
              <a:spcAft>
                <a:spcPts val="0"/>
              </a:spcAft>
            </a:pPr>
            <a:r>
              <a:rPr sz="1100" b="1" i="0">
                <a:solidFill>
                  <a:srgbClr val="000000"/>
                </a:solidFill>
                <a:latin typeface="Arial"/>
              </a:rPr>
              <a:t>14 rules</a:t>
            </a:r>
            <a:r>
              <a:rPr sz="1100" b="0" i="0">
                <a:solidFill>
                  <a:srgbClr val="000000"/>
                </a:solidFill>
                <a:latin typeface="Arial"/>
              </a:rPr>
              <a:t> across 5 problem types, stored as JSON and matched most-severe-first. Critical rules raise 112; members get their society’s contacts.</a:t>
            </a:r>
          </a:p>
        </p:txBody>
      </p:sp>
      <p:sp>
        <p:nvSpPr>
          <p:cNvPr id="42" name="TextBox 41"/>
          <p:cNvSpPr txBox="1"/>
          <p:nvPr/>
        </p:nvSpPr>
        <p:spPr>
          <a:xfrm>
            <a:off x="4270248" y="5522976"/>
            <a:ext cx="3611880" cy="201168"/>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shared/advisory-rules.json · TC-A03, TC-A08, TC-A12</a:t>
            </a:r>
          </a:p>
        </p:txBody>
      </p:sp>
      <p:cxnSp>
        <p:nvCxnSpPr>
          <p:cNvPr id="43" name="Connector 42"/>
          <p:cNvCxnSpPr/>
          <p:nvPr/>
        </p:nvCxnSpPr>
        <p:spPr>
          <a:xfrm>
            <a:off x="8037575" y="4681728"/>
            <a:ext cx="3611880" cy="0"/>
          </a:xfrm>
          <a:prstGeom prst="line">
            <a:avLst/>
          </a:prstGeom>
          <a:ln w="9525">
            <a:solidFill>
              <a:srgbClr val="BFBFBF"/>
            </a:solidFill>
          </a:ln>
        </p:spPr>
      </p:cxnSp>
      <p:sp>
        <p:nvSpPr>
          <p:cNvPr id="44" name="TextBox 43"/>
          <p:cNvSpPr txBox="1"/>
          <p:nvPr/>
        </p:nvSpPr>
        <p:spPr>
          <a:xfrm>
            <a:off x="8037575" y="4773168"/>
            <a:ext cx="3611880" cy="960120"/>
          </a:xfrm>
          <a:prstGeom prst="rect">
            <a:avLst/>
          </a:prstGeom>
          <a:noFill/>
        </p:spPr>
        <p:txBody>
          <a:bodyPr wrap="square" anchor="t" lIns="0" rIns="0" tIns="0" bIns="0">
            <a:spAutoFit/>
          </a:bodyPr>
          <a:lstStyle/>
          <a:p>
            <a:pPr algn="l">
              <a:spcAft>
                <a:spcPts val="0"/>
              </a:spcAft>
            </a:pPr>
            <a:r>
              <a:rPr sz="1100" b="1" i="0">
                <a:solidFill>
                  <a:srgbClr val="000000"/>
                </a:solidFill>
                <a:latin typeface="Arial"/>
              </a:rPr>
              <a:t>Routed by category:</a:t>
            </a:r>
            <a:r>
              <a:rPr sz="1100" b="0" i="0">
                <a:solidFill>
                  <a:srgbClr val="000000"/>
                </a:solidFill>
                <a:latin typeface="Arial"/>
              </a:rPr>
              <a:t> unsafe drinking water went to Priya Nair, tank &amp; water quality. Every change is appended; the filer can reopen within 7 days.</a:t>
            </a:r>
          </a:p>
        </p:txBody>
      </p:sp>
      <p:sp>
        <p:nvSpPr>
          <p:cNvPr id="45" name="TextBox 44"/>
          <p:cNvSpPr txBox="1"/>
          <p:nvPr/>
        </p:nvSpPr>
        <p:spPr>
          <a:xfrm>
            <a:off x="8037575" y="5522976"/>
            <a:ext cx="3611880" cy="201168"/>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TC-M14 · TC-API-13, TC-API-20</a:t>
            </a:r>
          </a:p>
        </p:txBody>
      </p:sp>
    </p:spTree>
    <p:extLst>
      <p:ext uri="{BB962C8B-B14F-4D97-AF65-F5344CB8AC3E}">
        <p14:creationId xmlns:p14="http://schemas.microsoft.com/office/powerpoint/2010/main" val="3000513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txBox="1">
            <a:spLocks noGrp="1"/>
          </p:cNvSpPr>
          <p:nvPr>
            <p:ph type="ctrTitle"/>
          </p:nvPr>
        </p:nvSpPr>
        <p:spPr>
          <a:xfrm>
            <a:off x="2606040" y="201168"/>
            <a:ext cx="8458200" cy="960120"/>
          </a:xfrm>
          <a:prstGeom prst="rect">
            <a:avLst/>
          </a:prstGeom>
          <a:noFill/>
          <a:ln>
            <a:noFill/>
          </a:ln>
        </p:spPr>
        <p:txBody>
          <a:bodyPr spcFirstLastPara="1" wrap="square" lIns="91425" tIns="45700" rIns="91425" bIns="45700" anchor="ctr" anchorCtr="0">
            <a:noAutofit/>
          </a:bodyPr>
          <a:lstStyle/>
          <a:p>
            <a:pPr marL="0" lvl="0" indent="0" algn="ctr" rtl="0">
              <a:lnSpc>
                <a:spcPct val="95000"/>
              </a:lnSpc>
              <a:spcBef>
                <a:spcPts val="0"/>
              </a:spcBef>
              <a:spcAft>
                <a:spcPts val="0"/>
              </a:spcAft>
              <a:buClr>
                <a:srgbClr val="A42530"/>
              </a:buClr>
              <a:buSzPts val="6000"/>
              <a:buFont typeface="Marcellus"/>
              <a:buNone/>
            </a:pPr>
            <a:r>
              <a:rPr lang="en-IN" sz="2200" dirty="0" b="1">
                <a:solidFill>
                  <a:srgbClr val="000000"/>
                </a:solidFill>
                <a:latin typeface="Arial"/>
              </a:rPr>
              <a:t>All 52 automated tests pass, and testing caught six defects before they reached the demo</a:t>
            </a:r>
            <a:endParaRPr sz="3600" dirty="0"/>
          </a:p>
        </p:txBody>
      </p:sp>
      <p:sp>
        <p:nvSpPr>
          <p:cNvPr id="2" name="Google Shape;28;p6">
            <a:extLst>
              <a:ext uri="{FF2B5EF4-FFF2-40B4-BE49-F238E27FC236}">
                <a16:creationId xmlns="" xmlns:a16="http://schemas.microsoft.com/office/drawing/2014/main" id="{549F0C40-71EF-DDDF-2F69-F15733F9223C}"/>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3" name="Google Shape;29;p6">
            <a:extLst>
              <a:ext uri="{FF2B5EF4-FFF2-40B4-BE49-F238E27FC236}">
                <a16:creationId xmlns="" xmlns:a16="http://schemas.microsoft.com/office/drawing/2014/main" id="{BD9EB9F3-ACCC-CA29-82D0-199936CB5A5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8" name="Google Shape;30;p6">
            <a:extLst>
              <a:ext uri="{FF2B5EF4-FFF2-40B4-BE49-F238E27FC236}">
                <a16:creationId xmlns="" xmlns:a16="http://schemas.microsoft.com/office/drawing/2014/main" id="{43F358E2-BE0A-24B2-4518-941E0E4D61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2</a:t>
            </a:fld>
            <a:endParaRPr lang="en-US" dirty="0"/>
          </a:p>
        </p:txBody>
      </p:sp>
      <p:sp>
        <p:nvSpPr>
          <p:cNvPr id="21" name="TextBox 20"/>
          <p:cNvSpPr txBox="1"/>
          <p:nvPr/>
        </p:nvSpPr>
        <p:spPr>
          <a:xfrm>
            <a:off x="502920" y="1298448"/>
            <a:ext cx="6949440" cy="256032"/>
          </a:xfrm>
          <a:prstGeom prst="rect">
            <a:avLst/>
          </a:prstGeom>
          <a:noFill/>
        </p:spPr>
        <p:txBody>
          <a:bodyPr wrap="square" anchor="t" lIns="0" rIns="0" tIns="0" bIns="0">
            <a:spAutoFit/>
          </a:bodyPr>
          <a:lstStyle/>
          <a:p>
            <a:pPr algn="l">
              <a:spcAft>
                <a:spcPts val="0"/>
              </a:spcAft>
            </a:pPr>
            <a:r>
              <a:rPr sz="1200" b="1" i="0">
                <a:solidFill>
                  <a:srgbClr val="000000"/>
                </a:solidFill>
                <a:latin typeface="Arial"/>
              </a:rPr>
              <a:t>Automated tests</a:t>
            </a:r>
            <a:r>
              <a:rPr sz="1200" b="0" i="0">
                <a:solidFill>
                  <a:srgbClr val="44546A"/>
                </a:solidFill>
                <a:latin typeface="Arial"/>
              </a:rPr>
              <a:t>  ·  run 22 Sep 2026</a:t>
            </a:r>
          </a:p>
        </p:txBody>
      </p:sp>
      <p:sp>
        <p:nvSpPr>
          <p:cNvPr id="22" name="Rectangle 21"/>
          <p:cNvSpPr/>
          <p:nvPr/>
        </p:nvSpPr>
        <p:spPr>
          <a:xfrm>
            <a:off x="502920" y="1627632"/>
            <a:ext cx="3073790" cy="420624"/>
          </a:xfrm>
          <a:prstGeom prst="rect">
            <a:avLst/>
          </a:prstGeom>
          <a:solidFill>
            <a:srgbClr val="A42530"/>
          </a:solidFill>
          <a:ln w="19050">
            <a:solidFill>
              <a:srgbClr val="FFFFFF"/>
            </a:solidFill>
          </a:ln>
        </p:spPr>
        <p:txBody>
          <a:bodyPr rtlCol="0" anchor="ctr"/>
          <a:lstStyle/>
          <a:p>
            <a:pPr algn="ctr"/>
          </a:p>
        </p:txBody>
      </p:sp>
      <p:sp>
        <p:nvSpPr>
          <p:cNvPr id="23" name="Rectangle 22"/>
          <p:cNvSpPr/>
          <p:nvPr/>
        </p:nvSpPr>
        <p:spPr>
          <a:xfrm>
            <a:off x="3576710" y="1627632"/>
            <a:ext cx="3875649" cy="420624"/>
          </a:xfrm>
          <a:prstGeom prst="rect">
            <a:avLst/>
          </a:prstGeom>
          <a:solidFill>
            <a:srgbClr val="44546A"/>
          </a:solidFill>
          <a:ln w="19050">
            <a:solidFill>
              <a:srgbClr val="FFFFFF"/>
            </a:solidFill>
          </a:ln>
        </p:spPr>
        <p:txBody>
          <a:bodyPr rtlCol="0" anchor="ctr"/>
          <a:lstStyle/>
          <a:p>
            <a:pPr algn="ctr"/>
          </a:p>
        </p:txBody>
      </p:sp>
      <p:sp>
        <p:nvSpPr>
          <p:cNvPr id="24" name="TextBox 23"/>
          <p:cNvSpPr txBox="1"/>
          <p:nvPr/>
        </p:nvSpPr>
        <p:spPr>
          <a:xfrm>
            <a:off x="612648" y="1627632"/>
            <a:ext cx="2890910" cy="420624"/>
          </a:xfrm>
          <a:prstGeom prst="rect">
            <a:avLst/>
          </a:prstGeom>
          <a:noFill/>
        </p:spPr>
        <p:txBody>
          <a:bodyPr wrap="square" anchor="ctr" lIns="0" rIns="0" tIns="0" bIns="0">
            <a:spAutoFit/>
          </a:bodyPr>
          <a:lstStyle/>
          <a:p>
            <a:pPr algn="l">
              <a:spcAft>
                <a:spcPts val="0"/>
              </a:spcAft>
            </a:pPr>
            <a:r>
              <a:rPr sz="1300" b="1" i="0">
                <a:solidFill>
                  <a:srgbClr val="FFFFFF"/>
                </a:solidFill>
                <a:latin typeface="Arial"/>
              </a:rPr>
              <a:t>23 / 23 </a:t>
            </a:r>
            <a:r>
              <a:rPr sz="1000" b="0" i="0">
                <a:solidFill>
                  <a:srgbClr val="FFFFFF"/>
                </a:solidFill>
                <a:latin typeface="Arial"/>
              </a:rPr>
              <a:t>unit · shared/</a:t>
            </a:r>
          </a:p>
        </p:txBody>
      </p:sp>
      <p:sp>
        <p:nvSpPr>
          <p:cNvPr id="25" name="TextBox 24"/>
          <p:cNvSpPr txBox="1"/>
          <p:nvPr/>
        </p:nvSpPr>
        <p:spPr>
          <a:xfrm>
            <a:off x="3686438" y="1627632"/>
            <a:ext cx="3692769" cy="420624"/>
          </a:xfrm>
          <a:prstGeom prst="rect">
            <a:avLst/>
          </a:prstGeom>
          <a:noFill/>
        </p:spPr>
        <p:txBody>
          <a:bodyPr wrap="square" anchor="ctr" lIns="0" rIns="0" tIns="0" bIns="0">
            <a:spAutoFit/>
          </a:bodyPr>
          <a:lstStyle/>
          <a:p>
            <a:pPr algn="l">
              <a:spcAft>
                <a:spcPts val="0"/>
              </a:spcAft>
            </a:pPr>
            <a:r>
              <a:rPr sz="1300" b="1" i="0">
                <a:solidFill>
                  <a:srgbClr val="FFFFFF"/>
                </a:solidFill>
                <a:latin typeface="Arial"/>
              </a:rPr>
              <a:t>29 / 29 </a:t>
            </a:r>
            <a:r>
              <a:rPr sz="950" b="0" i="0">
                <a:solidFill>
                  <a:srgbClr val="FFFFFF"/>
                </a:solidFill>
                <a:latin typeface="Arial"/>
              </a:rPr>
              <a:t>API end-to-end · every endpoint and permission boundary</a:t>
            </a:r>
          </a:p>
        </p:txBody>
      </p:sp>
      <p:sp>
        <p:nvSpPr>
          <p:cNvPr id="26" name="TextBox 25"/>
          <p:cNvSpPr txBox="1"/>
          <p:nvPr/>
        </p:nvSpPr>
        <p:spPr>
          <a:xfrm>
            <a:off x="502920" y="2084831"/>
            <a:ext cx="6949440" cy="201168"/>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npm test · npm --prefix server test · results logged in docs/testing.md</a:t>
            </a:r>
          </a:p>
        </p:txBody>
      </p:sp>
      <p:sp>
        <p:nvSpPr>
          <p:cNvPr id="27" name="TextBox 26"/>
          <p:cNvSpPr txBox="1"/>
          <p:nvPr/>
        </p:nvSpPr>
        <p:spPr>
          <a:xfrm>
            <a:off x="502920" y="2395728"/>
            <a:ext cx="2240280" cy="365760"/>
          </a:xfrm>
          <a:prstGeom prst="rect">
            <a:avLst/>
          </a:prstGeom>
          <a:noFill/>
        </p:spPr>
        <p:txBody>
          <a:bodyPr wrap="square" anchor="t" lIns="0" rIns="0" tIns="0" bIns="0">
            <a:spAutoFit/>
          </a:bodyPr>
          <a:lstStyle/>
          <a:p>
            <a:pPr algn="l">
              <a:spcAft>
                <a:spcPts val="0"/>
              </a:spcAft>
            </a:pPr>
            <a:r>
              <a:rPr sz="1800" b="1" i="0">
                <a:solidFill>
                  <a:srgbClr val="A42530"/>
                </a:solidFill>
                <a:latin typeface="Arial"/>
              </a:rPr>
              <a:t>3 of 3</a:t>
            </a:r>
          </a:p>
        </p:txBody>
      </p:sp>
      <p:sp>
        <p:nvSpPr>
          <p:cNvPr id="28" name="TextBox 27"/>
          <p:cNvSpPr txBox="1"/>
          <p:nvPr/>
        </p:nvSpPr>
        <p:spPr>
          <a:xfrm>
            <a:off x="502920" y="2743200"/>
            <a:ext cx="2194560" cy="384048"/>
          </a:xfrm>
          <a:prstGeom prst="rect">
            <a:avLst/>
          </a:prstGeom>
          <a:noFill/>
        </p:spPr>
        <p:txBody>
          <a:bodyPr wrap="square" anchor="t" lIns="0" rIns="0" tIns="0" bIns="0">
            <a:spAutoFit/>
          </a:bodyPr>
          <a:lstStyle/>
          <a:p>
            <a:pPr algn="l">
              <a:spcAft>
                <a:spcPts val="0"/>
              </a:spcAft>
            </a:pPr>
            <a:r>
              <a:rPr sz="1000" b="0" i="0">
                <a:solidFill>
                  <a:srgbClr val="000000"/>
                </a:solidFill>
                <a:latin typeface="Arial"/>
              </a:rPr>
              <a:t>functionalities working end to end against a live MongoDB</a:t>
            </a:r>
          </a:p>
        </p:txBody>
      </p:sp>
      <p:sp>
        <p:nvSpPr>
          <p:cNvPr id="29" name="TextBox 28"/>
          <p:cNvSpPr txBox="1"/>
          <p:nvPr/>
        </p:nvSpPr>
        <p:spPr>
          <a:xfrm>
            <a:off x="502920" y="3127248"/>
            <a:ext cx="2194560" cy="182880"/>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TC-M05, TC-M10, TC-M14</a:t>
            </a:r>
          </a:p>
        </p:txBody>
      </p:sp>
      <p:sp>
        <p:nvSpPr>
          <p:cNvPr id="30" name="TextBox 29"/>
          <p:cNvSpPr txBox="1"/>
          <p:nvPr/>
        </p:nvSpPr>
        <p:spPr>
          <a:xfrm>
            <a:off x="2862072" y="2395728"/>
            <a:ext cx="2240280" cy="365760"/>
          </a:xfrm>
          <a:prstGeom prst="rect">
            <a:avLst/>
          </a:prstGeom>
          <a:noFill/>
        </p:spPr>
        <p:txBody>
          <a:bodyPr wrap="square" anchor="t" lIns="0" rIns="0" tIns="0" bIns="0">
            <a:spAutoFit/>
          </a:bodyPr>
          <a:lstStyle/>
          <a:p>
            <a:pPr algn="l">
              <a:spcAft>
                <a:spcPts val="0"/>
              </a:spcAft>
            </a:pPr>
            <a:r>
              <a:rPr sz="1800" b="1" i="0">
                <a:solidFill>
                  <a:srgbClr val="A42530"/>
                </a:solidFill>
                <a:latin typeface="Arial"/>
              </a:rPr>
              <a:t>41</a:t>
            </a:r>
          </a:p>
        </p:txBody>
      </p:sp>
      <p:sp>
        <p:nvSpPr>
          <p:cNvPr id="31" name="TextBox 30"/>
          <p:cNvSpPr txBox="1"/>
          <p:nvPr/>
        </p:nvSpPr>
        <p:spPr>
          <a:xfrm>
            <a:off x="2862072" y="2743200"/>
            <a:ext cx="2194560" cy="384048"/>
          </a:xfrm>
          <a:prstGeom prst="rect">
            <a:avLst/>
          </a:prstGeom>
          <a:noFill/>
        </p:spPr>
        <p:txBody>
          <a:bodyPr wrap="square" anchor="t" lIns="0" rIns="0" tIns="0" bIns="0">
            <a:spAutoFit/>
          </a:bodyPr>
          <a:lstStyle/>
          <a:p>
            <a:pPr algn="l">
              <a:spcAft>
                <a:spcPts val="0"/>
              </a:spcAft>
            </a:pPr>
            <a:r>
              <a:rPr sz="1000" b="0" i="0">
                <a:solidFill>
                  <a:srgbClr val="000000"/>
                </a:solidFill>
                <a:latin typeface="Arial"/>
              </a:rPr>
              <a:t>functional requirements specified and implemented</a:t>
            </a:r>
          </a:p>
        </p:txBody>
      </p:sp>
      <p:sp>
        <p:nvSpPr>
          <p:cNvPr id="32" name="TextBox 31"/>
          <p:cNvSpPr txBox="1"/>
          <p:nvPr/>
        </p:nvSpPr>
        <p:spPr>
          <a:xfrm>
            <a:off x="2862072" y="3127248"/>
            <a:ext cx="2194560" cy="182880"/>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docs/REQUIREMENTS.md</a:t>
            </a:r>
          </a:p>
        </p:txBody>
      </p:sp>
      <p:sp>
        <p:nvSpPr>
          <p:cNvPr id="33" name="TextBox 32"/>
          <p:cNvSpPr txBox="1"/>
          <p:nvPr/>
        </p:nvSpPr>
        <p:spPr>
          <a:xfrm>
            <a:off x="5221224" y="2395728"/>
            <a:ext cx="2240280" cy="365760"/>
          </a:xfrm>
          <a:prstGeom prst="rect">
            <a:avLst/>
          </a:prstGeom>
          <a:noFill/>
        </p:spPr>
        <p:txBody>
          <a:bodyPr wrap="square" anchor="t" lIns="0" rIns="0" tIns="0" bIns="0">
            <a:spAutoFit/>
          </a:bodyPr>
          <a:lstStyle/>
          <a:p>
            <a:pPr algn="l">
              <a:spcAft>
                <a:spcPts val="0"/>
              </a:spcAft>
            </a:pPr>
            <a:r>
              <a:rPr sz="1800" b="1" i="0">
                <a:solidFill>
                  <a:srgbClr val="A42530"/>
                </a:solidFill>
                <a:latin typeface="Arial"/>
              </a:rPr>
              <a:t>360 px</a:t>
            </a:r>
          </a:p>
        </p:txBody>
      </p:sp>
      <p:sp>
        <p:nvSpPr>
          <p:cNvPr id="34" name="TextBox 33"/>
          <p:cNvSpPr txBox="1"/>
          <p:nvPr/>
        </p:nvSpPr>
        <p:spPr>
          <a:xfrm>
            <a:off x="5221224" y="2743200"/>
            <a:ext cx="2194560" cy="384048"/>
          </a:xfrm>
          <a:prstGeom prst="rect">
            <a:avLst/>
          </a:prstGeom>
          <a:noFill/>
        </p:spPr>
        <p:txBody>
          <a:bodyPr wrap="square" anchor="t" lIns="0" rIns="0" tIns="0" bIns="0">
            <a:spAutoFit/>
          </a:bodyPr>
          <a:lstStyle/>
          <a:p>
            <a:pPr algn="l">
              <a:spcAft>
                <a:spcPts val="0"/>
              </a:spcAft>
            </a:pPr>
            <a:r>
              <a:rPr sz="1000" b="0" i="0">
                <a:solidFill>
                  <a:srgbClr val="000000"/>
                </a:solidFill>
                <a:latin typeface="Arial"/>
              </a:rPr>
              <a:t>every route checked: no horizontal scroll</a:t>
            </a:r>
          </a:p>
        </p:txBody>
      </p:sp>
      <p:sp>
        <p:nvSpPr>
          <p:cNvPr id="35" name="TextBox 34"/>
          <p:cNvSpPr txBox="1"/>
          <p:nvPr/>
        </p:nvSpPr>
        <p:spPr>
          <a:xfrm>
            <a:off x="5221224" y="3127248"/>
            <a:ext cx="2194560" cy="182880"/>
          </a:xfrm>
          <a:prstGeom prst="rect">
            <a:avLst/>
          </a:prstGeom>
          <a:noFill/>
        </p:spPr>
        <p:txBody>
          <a:bodyPr wrap="square" anchor="t" lIns="0" rIns="0" tIns="0" bIns="0">
            <a:spAutoFit/>
          </a:bodyPr>
          <a:lstStyle/>
          <a:p>
            <a:pPr algn="l">
              <a:spcAft>
                <a:spcPts val="0"/>
              </a:spcAft>
            </a:pPr>
            <a:r>
              <a:rPr sz="850" b="0" i="0">
                <a:solidFill>
                  <a:srgbClr val="44546A"/>
                </a:solidFill>
                <a:latin typeface="Arial"/>
              </a:rPr>
              <a:t>TC-M01, after D5 and D6</a:t>
            </a:r>
          </a:p>
        </p:txBody>
      </p:sp>
      <p:sp>
        <p:nvSpPr>
          <p:cNvPr id="36" name="TextBox 35"/>
          <p:cNvSpPr txBox="1"/>
          <p:nvPr/>
        </p:nvSpPr>
        <p:spPr>
          <a:xfrm>
            <a:off x="502920" y="3456432"/>
            <a:ext cx="6949440" cy="256032"/>
          </a:xfrm>
          <a:prstGeom prst="rect">
            <a:avLst/>
          </a:prstGeom>
          <a:noFill/>
        </p:spPr>
        <p:txBody>
          <a:bodyPr wrap="square" anchor="t" lIns="0" rIns="0" tIns="0" bIns="0">
            <a:spAutoFit/>
          </a:bodyPr>
          <a:lstStyle/>
          <a:p>
            <a:pPr algn="l">
              <a:spcAft>
                <a:spcPts val="0"/>
              </a:spcAft>
            </a:pPr>
            <a:r>
              <a:rPr sz="1200" b="1" i="0">
                <a:solidFill>
                  <a:srgbClr val="000000"/>
                </a:solidFill>
                <a:latin typeface="Arial"/>
              </a:rPr>
              <a:t>6 defects found by tests and fixed</a:t>
            </a:r>
          </a:p>
        </p:txBody>
      </p:sp>
      <p:graphicFrame>
        <p:nvGraphicFramePr>
          <p:cNvPr id="37" name="Table 36"/>
          <p:cNvGraphicFramePr>
            <a:graphicFrameLocks noGrp="1"/>
          </p:cNvGraphicFramePr>
          <p:nvPr/>
        </p:nvGraphicFramePr>
        <p:xfrm>
          <a:off x="502920" y="3749039"/>
          <a:ext cx="6949439" cy="1645920"/>
        </p:xfrm>
        <a:graphic>
          <a:graphicData uri="http://schemas.openxmlformats.org/drawingml/2006/table">
            <a:tbl>
              <a:tblPr firstRow="0" bandRow="0"/>
              <a:tblGrid>
                <a:gridCol w="411480"/>
                <a:gridCol w="868680"/>
                <a:gridCol w="5669279"/>
              </a:tblGrid>
              <a:tr h="274320">
                <a:tc>
                  <a:txBody>
                    <a:bodyPr/>
                    <a:lstStyle/>
                    <a:p>
                      <a:r>
                        <a:rPr sz="900" b="1">
                          <a:solidFill>
                            <a:srgbClr val="A42530"/>
                          </a:solidFill>
                          <a:latin typeface="Arial"/>
                        </a:rPr>
                        <a:t>D1</a:t>
                      </a:r>
                    </a:p>
                  </a:txBody>
                  <a:tcPr marL="54864" marR="36576" marT="18288" marB="18288" anchor="ctr">
                    <a:solidFill>
                      <a:srgbClr val="F6DDDF"/>
                    </a:solidFill>
                  </a:tcPr>
                </a:tc>
                <a:tc>
                  <a:txBody>
                    <a:bodyPr/>
                    <a:lstStyle/>
                    <a:p>
                      <a:r>
                        <a:rPr sz="900" b="0">
                          <a:solidFill>
                            <a:srgbClr val="44546A"/>
                          </a:solidFill>
                          <a:latin typeface="Arial"/>
                        </a:rPr>
                        <a:t>TC-C01</a:t>
                      </a:r>
                    </a:p>
                  </a:txBody>
                  <a:tcPr marL="54864" marR="36576" marT="18288" marB="18288" anchor="ctr">
                    <a:solidFill>
                      <a:srgbClr val="F6DDDF"/>
                    </a:solidFill>
                  </a:tcPr>
                </a:tc>
                <a:tc>
                  <a:txBody>
                    <a:bodyPr/>
                    <a:lstStyle/>
                    <a:p>
                      <a:r>
                        <a:rPr sz="950" b="0">
                          <a:solidFill>
                            <a:srgbClr val="000000"/>
                          </a:solidFill>
                          <a:latin typeface="Arial"/>
                        </a:rPr>
                        <a:t>Misspelt constant made every total NaN; caught because the expected 678.18 came from the requirements, not our code</a:t>
                      </a:r>
                    </a:p>
                  </a:txBody>
                  <a:tcPr marL="54864" marR="36576" marT="18288" marB="18288" anchor="ctr">
                    <a:solidFill>
                      <a:srgbClr val="F6DDDF"/>
                    </a:solidFill>
                  </a:tcPr>
                </a:tc>
              </a:tr>
              <a:tr h="274320">
                <a:tc>
                  <a:txBody>
                    <a:bodyPr/>
                    <a:lstStyle/>
                    <a:p>
                      <a:r>
                        <a:rPr sz="900" b="1">
                          <a:solidFill>
                            <a:srgbClr val="A42530"/>
                          </a:solidFill>
                          <a:latin typeface="Arial"/>
                        </a:rPr>
                        <a:t>D2</a:t>
                      </a:r>
                    </a:p>
                  </a:txBody>
                  <a:tcPr marL="54864" marR="36576" marT="18288" marB="18288" anchor="ctr">
                    <a:solidFill>
                      <a:srgbClr val="FFFFFF"/>
                    </a:solidFill>
                  </a:tcPr>
                </a:tc>
                <a:tc>
                  <a:txBody>
                    <a:bodyPr/>
                    <a:lstStyle/>
                    <a:p>
                      <a:r>
                        <a:rPr sz="900" b="0">
                          <a:solidFill>
                            <a:srgbClr val="44546A"/>
                          </a:solidFill>
                          <a:latin typeface="Arial"/>
                        </a:rPr>
                        <a:t>TC-C04</a:t>
                      </a:r>
                    </a:p>
                  </a:txBody>
                  <a:tcPr marL="54864" marR="36576" marT="18288" marB="18288" anchor="ctr">
                    <a:solidFill>
                      <a:srgbClr val="FFFFFF"/>
                    </a:solidFill>
                  </a:tcPr>
                </a:tc>
                <a:tc>
                  <a:txBody>
                    <a:bodyPr/>
                    <a:lstStyle/>
                    <a:p>
                      <a:r>
                        <a:rPr sz="950" b="0">
                          <a:solidFill>
                            <a:srgbClr val="000000"/>
                          </a:solidFill>
                          <a:latin typeface="Arial"/>
                        </a:rPr>
                        <a:t>Test bypassed the bathing-mode rule; test corrected</a:t>
                      </a:r>
                    </a:p>
                  </a:txBody>
                  <a:tcPr marL="54864" marR="36576" marT="18288" marB="18288" anchor="ctr">
                    <a:solidFill>
                      <a:srgbClr val="FFFFFF"/>
                    </a:solidFill>
                  </a:tcPr>
                </a:tc>
              </a:tr>
              <a:tr h="274320">
                <a:tc>
                  <a:txBody>
                    <a:bodyPr/>
                    <a:lstStyle/>
                    <a:p>
                      <a:r>
                        <a:rPr sz="900" b="1">
                          <a:solidFill>
                            <a:srgbClr val="A42530"/>
                          </a:solidFill>
                          <a:latin typeface="Arial"/>
                        </a:rPr>
                        <a:t>D3</a:t>
                      </a:r>
                    </a:p>
                  </a:txBody>
                  <a:tcPr marL="54864" marR="36576" marT="18288" marB="18288" anchor="ctr">
                    <a:solidFill>
                      <a:srgbClr val="F4F4F4"/>
                    </a:solidFill>
                  </a:tcPr>
                </a:tc>
                <a:tc>
                  <a:txBody>
                    <a:bodyPr/>
                    <a:lstStyle/>
                    <a:p>
                      <a:r>
                        <a:rPr sz="900" b="0">
                          <a:solidFill>
                            <a:srgbClr val="44546A"/>
                          </a:solidFill>
                          <a:latin typeface="Arial"/>
                        </a:rPr>
                        <a:t>TC-API-19</a:t>
                      </a:r>
                    </a:p>
                  </a:txBody>
                  <a:tcPr marL="54864" marR="36576" marT="18288" marB="18288" anchor="ctr">
                    <a:solidFill>
                      <a:srgbClr val="F4F4F4"/>
                    </a:solidFill>
                  </a:tcPr>
                </a:tc>
                <a:tc>
                  <a:txBody>
                    <a:bodyPr/>
                    <a:lstStyle/>
                    <a:p>
                      <a:r>
                        <a:rPr sz="950" b="0">
                          <a:solidFill>
                            <a:srgbClr val="000000"/>
                          </a:solidFill>
                          <a:latin typeface="Arial"/>
                        </a:rPr>
                        <a:t>Test expected 403; server correctly refuses the move with 400</a:t>
                      </a:r>
                    </a:p>
                  </a:txBody>
                  <a:tcPr marL="54864" marR="36576" marT="18288" marB="18288" anchor="ctr">
                    <a:solidFill>
                      <a:srgbClr val="F4F4F4"/>
                    </a:solidFill>
                  </a:tcPr>
                </a:tc>
              </a:tr>
              <a:tr h="274320">
                <a:tc>
                  <a:txBody>
                    <a:bodyPr/>
                    <a:lstStyle/>
                    <a:p>
                      <a:r>
                        <a:rPr sz="900" b="1">
                          <a:solidFill>
                            <a:srgbClr val="A42530"/>
                          </a:solidFill>
                          <a:latin typeface="Arial"/>
                        </a:rPr>
                        <a:t>D4</a:t>
                      </a:r>
                    </a:p>
                  </a:txBody>
                  <a:tcPr marL="54864" marR="36576" marT="18288" marB="18288" anchor="ctr">
                    <a:solidFill>
                      <a:srgbClr val="FFFFFF"/>
                    </a:solidFill>
                  </a:tcPr>
                </a:tc>
                <a:tc>
                  <a:txBody>
                    <a:bodyPr/>
                    <a:lstStyle/>
                    <a:p>
                      <a:r>
                        <a:rPr sz="900" b="0">
                          <a:solidFill>
                            <a:srgbClr val="44546A"/>
                          </a:solidFill>
                          <a:latin typeface="Arial"/>
                        </a:rPr>
                        <a:t>TC-M17</a:t>
                      </a:r>
                    </a:p>
                  </a:txBody>
                  <a:tcPr marL="54864" marR="36576" marT="18288" marB="18288" anchor="ctr">
                    <a:solidFill>
                      <a:srgbClr val="FFFFFF"/>
                    </a:solidFill>
                  </a:tcPr>
                </a:tc>
                <a:tc>
                  <a:txBody>
                    <a:bodyPr/>
                    <a:lstStyle/>
                    <a:p>
                      <a:r>
                        <a:rPr sz="950" b="0">
                          <a:solidFill>
                            <a:srgbClr val="000000"/>
                          </a:solidFill>
                          <a:latin typeface="Arial"/>
                        </a:rPr>
                        <a:t>Newest timeline entry showed “A member”; author repopulated</a:t>
                      </a:r>
                    </a:p>
                  </a:txBody>
                  <a:tcPr marL="54864" marR="36576" marT="18288" marB="18288" anchor="ctr">
                    <a:solidFill>
                      <a:srgbClr val="FFFFFF"/>
                    </a:solidFill>
                  </a:tcPr>
                </a:tc>
              </a:tr>
              <a:tr h="274320">
                <a:tc>
                  <a:txBody>
                    <a:bodyPr/>
                    <a:lstStyle/>
                    <a:p>
                      <a:r>
                        <a:rPr sz="900" b="1">
                          <a:solidFill>
                            <a:srgbClr val="A42530"/>
                          </a:solidFill>
                          <a:latin typeface="Arial"/>
                        </a:rPr>
                        <a:t>D5</a:t>
                      </a:r>
                    </a:p>
                  </a:txBody>
                  <a:tcPr marL="54864" marR="36576" marT="18288" marB="18288" anchor="ctr">
                    <a:solidFill>
                      <a:srgbClr val="F4F4F4"/>
                    </a:solidFill>
                  </a:tcPr>
                </a:tc>
                <a:tc>
                  <a:txBody>
                    <a:bodyPr/>
                    <a:lstStyle/>
                    <a:p>
                      <a:r>
                        <a:rPr sz="900" b="0">
                          <a:solidFill>
                            <a:srgbClr val="44546A"/>
                          </a:solidFill>
                          <a:latin typeface="Arial"/>
                        </a:rPr>
                        <a:t>TC-M01</a:t>
                      </a:r>
                    </a:p>
                  </a:txBody>
                  <a:tcPr marL="54864" marR="36576" marT="18288" marB="18288" anchor="ctr">
                    <a:solidFill>
                      <a:srgbClr val="F4F4F4"/>
                    </a:solidFill>
                  </a:tcPr>
                </a:tc>
                <a:tc>
                  <a:txBody>
                    <a:bodyPr/>
                    <a:lstStyle/>
                    <a:p>
                      <a:r>
                        <a:rPr sz="950" b="0">
                          <a:solidFill>
                            <a:srgbClr val="000000"/>
                          </a:solidFill>
                          <a:latin typeface="Arial"/>
                        </a:rPr>
                        <a:t>Calculator 12 px too wide at 360 px; gutter g-4 on mobile</a:t>
                      </a:r>
                    </a:p>
                  </a:txBody>
                  <a:tcPr marL="54864" marR="36576" marT="18288" marB="18288" anchor="ctr">
                    <a:solidFill>
                      <a:srgbClr val="F4F4F4"/>
                    </a:solidFill>
                  </a:tcPr>
                </a:tc>
              </a:tr>
              <a:tr h="274320">
                <a:tc>
                  <a:txBody>
                    <a:bodyPr/>
                    <a:lstStyle/>
                    <a:p>
                      <a:r>
                        <a:rPr sz="900" b="1">
                          <a:solidFill>
                            <a:srgbClr val="A42530"/>
                          </a:solidFill>
                          <a:latin typeface="Arial"/>
                        </a:rPr>
                        <a:t>D6</a:t>
                      </a:r>
                    </a:p>
                  </a:txBody>
                  <a:tcPr marL="54864" marR="36576" marT="18288" marB="18288" anchor="ctr">
                    <a:solidFill>
                      <a:srgbClr val="FFFFFF"/>
                    </a:solidFill>
                  </a:tcPr>
                </a:tc>
                <a:tc>
                  <a:txBody>
                    <a:bodyPr/>
                    <a:lstStyle/>
                    <a:p>
                      <a:r>
                        <a:rPr sz="900" b="0">
                          <a:solidFill>
                            <a:srgbClr val="44546A"/>
                          </a:solidFill>
                          <a:latin typeface="Arial"/>
                        </a:rPr>
                        <a:t>TC-M01</a:t>
                      </a:r>
                    </a:p>
                  </a:txBody>
                  <a:tcPr marL="54864" marR="36576" marT="18288" marB="18288" anchor="ctr">
                    <a:solidFill>
                      <a:srgbClr val="FFFFFF"/>
                    </a:solidFill>
                  </a:tcPr>
                </a:tc>
                <a:tc>
                  <a:txBody>
                    <a:bodyPr/>
                    <a:lstStyle/>
                    <a:p>
                      <a:r>
                        <a:rPr sz="950" b="0">
                          <a:solidFill>
                            <a:srgbClr val="000000"/>
                          </a:solidFill>
                          <a:latin typeface="Arial"/>
                        </a:rPr>
                        <a:t>Dashboard 2 px too wide at 360 px; filters now wrap</a:t>
                      </a:r>
                    </a:p>
                  </a:txBody>
                  <a:tcPr marL="54864" marR="36576" marT="18288" marB="18288" anchor="ctr">
                    <a:solidFill>
                      <a:srgbClr val="FFFFFF"/>
                    </a:solidFill>
                  </a:tcPr>
                </a:tc>
              </a:tr>
            </a:tbl>
          </a:graphicData>
        </a:graphic>
      </p:graphicFrame>
      <p:sp>
        <p:nvSpPr>
          <p:cNvPr id="38" name="TextBox 37"/>
          <p:cNvSpPr txBox="1"/>
          <p:nvPr/>
        </p:nvSpPr>
        <p:spPr>
          <a:xfrm>
            <a:off x="7818120" y="1298448"/>
            <a:ext cx="3840480" cy="256032"/>
          </a:xfrm>
          <a:prstGeom prst="rect">
            <a:avLst/>
          </a:prstGeom>
          <a:noFill/>
        </p:spPr>
        <p:txBody>
          <a:bodyPr wrap="square" anchor="t" lIns="0" rIns="0" tIns="0" bIns="0">
            <a:spAutoFit/>
          </a:bodyPr>
          <a:lstStyle/>
          <a:p>
            <a:pPr algn="l">
              <a:spcAft>
                <a:spcPts val="0"/>
              </a:spcAft>
            </a:pPr>
            <a:r>
              <a:rPr sz="1200" b="1" i="0">
                <a:solidFill>
                  <a:srgbClr val="000000"/>
                </a:solidFill>
                <a:latin typeface="Arial"/>
              </a:rPr>
              <a:t>Conclusion</a:t>
            </a:r>
          </a:p>
        </p:txBody>
      </p:sp>
      <p:sp>
        <p:nvSpPr>
          <p:cNvPr id="39" name="TextBox 38"/>
          <p:cNvSpPr txBox="1"/>
          <p:nvPr/>
        </p:nvSpPr>
        <p:spPr>
          <a:xfrm>
            <a:off x="7818120" y="1600200"/>
            <a:ext cx="3840480" cy="1463040"/>
          </a:xfrm>
          <a:prstGeom prst="rect">
            <a:avLst/>
          </a:prstGeom>
          <a:noFill/>
        </p:spPr>
        <p:txBody>
          <a:bodyPr wrap="square" anchor="t" lIns="0" rIns="0" tIns="0" bIns="0">
            <a:spAutoFit/>
          </a:bodyPr>
          <a:lstStyle/>
          <a:p>
            <a:pPr algn="l">
              <a:spcAft>
                <a:spcPts val="500"/>
              </a:spcAft>
            </a:pPr>
            <a:r>
              <a:rPr sz="1150" b="0" i="0">
                <a:solidFill>
                  <a:srgbClr val="000000"/>
                </a:solidFill>
                <a:latin typeface="Arial"/>
              </a:rPr>
              <a:t>Rule-based advice and automatic routing turn water awareness into something a household can act on the same day.</a:t>
            </a:r>
          </a:p>
          <a:p>
            <a:pPr algn="l">
              <a:spcAft>
                <a:spcPts val="500"/>
              </a:spcAft>
            </a:pPr>
            <a:r>
              <a:rPr sz="1150" b="0" i="0">
                <a:solidFill>
                  <a:srgbClr val="000000"/>
                </a:solidFill>
                <a:latin typeface="Arial"/>
              </a:rPr>
              <a:t>The society layer matters most: it is where individual advice usually stops.</a:t>
            </a:r>
          </a:p>
        </p:txBody>
      </p:sp>
      <p:sp>
        <p:nvSpPr>
          <p:cNvPr id="40" name="TextBox 39"/>
          <p:cNvSpPr txBox="1"/>
          <p:nvPr/>
        </p:nvSpPr>
        <p:spPr>
          <a:xfrm>
            <a:off x="7818120" y="2926080"/>
            <a:ext cx="3840480" cy="566928"/>
          </a:xfrm>
          <a:prstGeom prst="rect">
            <a:avLst/>
          </a:prstGeom>
          <a:noFill/>
        </p:spPr>
        <p:txBody>
          <a:bodyPr wrap="square" anchor="t" lIns="0" rIns="0" tIns="0" bIns="0">
            <a:spAutoFit/>
          </a:bodyPr>
          <a:lstStyle/>
          <a:p>
            <a:pPr algn="l">
              <a:spcAft>
                <a:spcPts val="0"/>
              </a:spcAft>
            </a:pPr>
            <a:r>
              <a:rPr sz="1050" b="1" i="0">
                <a:solidFill>
                  <a:srgbClr val="A42530"/>
                </a:solidFill>
                <a:latin typeface="Arial"/>
              </a:rPr>
              <a:t>Next: </a:t>
            </a:r>
            <a:r>
              <a:rPr sz="1050" b="0" i="0">
                <a:solidFill>
                  <a:srgbClr val="000000"/>
                </a:solidFill>
                <a:latin typeface="Arial"/>
              </a:rPr>
              <a:t>a verified municipal contact directory beyond Mumbai; India-measured fixture data instead of US EPA figures.</a:t>
            </a:r>
          </a:p>
        </p:txBody>
      </p:sp>
      <p:cxnSp>
        <p:nvCxnSpPr>
          <p:cNvPr id="41" name="Connector 40"/>
          <p:cNvCxnSpPr/>
          <p:nvPr/>
        </p:nvCxnSpPr>
        <p:spPr>
          <a:xfrm>
            <a:off x="7818120" y="3611880"/>
            <a:ext cx="3840480" cy="0"/>
          </a:xfrm>
          <a:prstGeom prst="line">
            <a:avLst/>
          </a:prstGeom>
          <a:ln w="9525">
            <a:solidFill>
              <a:srgbClr val="BFBFBF"/>
            </a:solidFill>
          </a:ln>
        </p:spPr>
      </p:cxnSp>
      <p:sp>
        <p:nvSpPr>
          <p:cNvPr id="42" name="TextBox 41"/>
          <p:cNvSpPr txBox="1"/>
          <p:nvPr/>
        </p:nvSpPr>
        <p:spPr>
          <a:xfrm>
            <a:off x="7818120" y="3675887"/>
            <a:ext cx="3840480" cy="219456"/>
          </a:xfrm>
          <a:prstGeom prst="rect">
            <a:avLst/>
          </a:prstGeom>
          <a:noFill/>
        </p:spPr>
        <p:txBody>
          <a:bodyPr wrap="square" anchor="t" lIns="0" rIns="0" tIns="0" bIns="0">
            <a:spAutoFit/>
          </a:bodyPr>
          <a:lstStyle/>
          <a:p>
            <a:pPr algn="l">
              <a:spcAft>
                <a:spcPts val="0"/>
              </a:spcAft>
            </a:pPr>
            <a:r>
              <a:rPr sz="1050" b="1" i="0">
                <a:solidFill>
                  <a:srgbClr val="000000"/>
                </a:solidFill>
                <a:latin typeface="Arial"/>
              </a:rPr>
              <a:t>References</a:t>
            </a:r>
          </a:p>
        </p:txBody>
      </p:sp>
      <p:sp>
        <p:nvSpPr>
          <p:cNvPr id="43" name="TextBox 42"/>
          <p:cNvSpPr txBox="1"/>
          <p:nvPr/>
        </p:nvSpPr>
        <p:spPr>
          <a:xfrm>
            <a:off x="7818120" y="3931920"/>
            <a:ext cx="3840480" cy="1965960"/>
          </a:xfrm>
          <a:prstGeom prst="rect">
            <a:avLst/>
          </a:prstGeom>
          <a:noFill/>
        </p:spPr>
        <p:txBody>
          <a:bodyPr wrap="square" anchor="t" lIns="0" rIns="0" tIns="0" bIns="0">
            <a:spAutoFit/>
          </a:bodyPr>
          <a:lstStyle/>
          <a:p>
            <a:pPr algn="l">
              <a:spcAft>
                <a:spcPts val="250"/>
              </a:spcAft>
            </a:pPr>
            <a:r>
              <a:rPr sz="800" b="0" i="0">
                <a:solidFill>
                  <a:srgbClr val="000000"/>
                </a:solidFill>
                <a:latin typeface="Arial"/>
              </a:rPr>
              <a:t>[1] WHO and UNICEF, </a:t>
            </a:r>
            <a:r>
              <a:rPr sz="800" b="0" i="1">
                <a:solidFill>
                  <a:srgbClr val="000000"/>
                </a:solidFill>
                <a:latin typeface="Arial"/>
              </a:rPr>
              <a:t>Progress on Household Drinking Water, Sanitation and Hygiene 2000–2024</a:t>
            </a:r>
            <a:r>
              <a:rPr sz="800" b="0" i="0">
                <a:solidFill>
                  <a:srgbClr val="000000"/>
                </a:solidFill>
                <a:latin typeface="Arial"/>
              </a:rPr>
              <a:t>. New York, NY, USA: UNICEF/WHO, 2025.</a:t>
            </a:r>
          </a:p>
          <a:p>
            <a:pPr algn="l">
              <a:spcAft>
                <a:spcPts val="250"/>
              </a:spcAft>
            </a:pPr>
            <a:r>
              <a:rPr sz="800" b="0" i="0">
                <a:solidFill>
                  <a:srgbClr val="000000"/>
                </a:solidFill>
                <a:latin typeface="Arial"/>
              </a:rPr>
              <a:t>[2] NITI Aayog, “Composite Water Management Index,” Govt. of India, New Delhi, India, Rep., Jun. 2018.</a:t>
            </a:r>
          </a:p>
          <a:p>
            <a:pPr algn="l">
              <a:spcAft>
                <a:spcPts val="250"/>
              </a:spcAft>
            </a:pPr>
            <a:r>
              <a:rPr sz="800" b="0" i="0">
                <a:solidFill>
                  <a:srgbClr val="000000"/>
                </a:solidFill>
                <a:latin typeface="Arial"/>
              </a:rPr>
              <a:t>[3] CPHEEO, </a:t>
            </a:r>
            <a:r>
              <a:rPr sz="800" b="0" i="1">
                <a:solidFill>
                  <a:srgbClr val="000000"/>
                </a:solidFill>
                <a:latin typeface="Arial"/>
              </a:rPr>
              <a:t>Manual on Water Supply and Treatment</a:t>
            </a:r>
            <a:r>
              <a:rPr sz="800" b="0" i="0">
                <a:solidFill>
                  <a:srgbClr val="000000"/>
                </a:solidFill>
                <a:latin typeface="Arial"/>
              </a:rPr>
              <a:t>, 3rd ed. New Delhi: MoUD, 1999; BIS, IS 1172:1993.</a:t>
            </a:r>
          </a:p>
          <a:p>
            <a:pPr algn="l">
              <a:spcAft>
                <a:spcPts val="250"/>
              </a:spcAft>
            </a:pPr>
            <a:r>
              <a:rPr sz="800" b="0" i="0">
                <a:solidFill>
                  <a:srgbClr val="000000"/>
                </a:solidFill>
                <a:latin typeface="Arial"/>
              </a:rPr>
              <a:t>[4] G. Howard and J. Bartram, </a:t>
            </a:r>
            <a:r>
              <a:rPr sz="800" b="0" i="1">
                <a:solidFill>
                  <a:srgbClr val="000000"/>
                </a:solidFill>
                <a:latin typeface="Arial"/>
              </a:rPr>
              <a:t>Domestic Water Quantity, Service Level and Health</a:t>
            </a:r>
            <a:r>
              <a:rPr sz="800" b="0" i="0">
                <a:solidFill>
                  <a:srgbClr val="000000"/>
                </a:solidFill>
                <a:latin typeface="Arial"/>
              </a:rPr>
              <a:t>. Geneva: WHO, 2003.</a:t>
            </a:r>
          </a:p>
          <a:p>
            <a:pPr algn="l">
              <a:spcAft>
                <a:spcPts val="250"/>
              </a:spcAft>
            </a:pPr>
            <a:r>
              <a:rPr sz="800" b="0" i="0">
                <a:solidFill>
                  <a:srgbClr val="000000"/>
                </a:solidFill>
                <a:latin typeface="Arial"/>
              </a:rPr>
              <a:t>[5] U.S. EPA, “WaterSense.” [Online]. Available: https://www.epa.gov/watersense</a:t>
            </a:r>
          </a:p>
          <a:p>
            <a:pPr algn="l">
              <a:spcAft>
                <a:spcPts val="250"/>
              </a:spcAft>
            </a:pPr>
            <a:r>
              <a:rPr sz="800" b="0" i="0">
                <a:solidFill>
                  <a:srgbClr val="000000"/>
                </a:solidFill>
                <a:latin typeface="Arial"/>
              </a:rPr>
              <a:t>[6] U.S. CDC, “How to make water safe in an emergency.” [Online]. Available: https://www.cdc.gov/water-emergency</a:t>
            </a:r>
          </a:p>
        </p:txBody>
      </p:sp>
    </p:spTree>
    <p:extLst>
      <p:ext uri="{BB962C8B-B14F-4D97-AF65-F5344CB8AC3E}">
        <p14:creationId xmlns:p14="http://schemas.microsoft.com/office/powerpoint/2010/main" val="3000513770"/>
      </p:ext>
    </p:extLst>
  </p:cSld>
  <p:clrMapOvr>
    <a:masterClrMapping/>
  </p:clrMapOvr>
</p:sld>
</file>

<file path=ppt/theme/theme1.xml><?xml version="1.0" encoding="utf-8"?>
<a:theme xmlns:a="http://schemas.openxmlformats.org/drawingml/2006/main"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22</Words>
  <Application>Microsoft Office PowerPoint</Application>
  <PresentationFormat>Custom</PresentationFormat>
  <Paragraphs>16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Fira Sans</vt:lpstr>
      <vt:lpstr>Calibri</vt:lpstr>
      <vt:lpstr>Marcellus</vt:lpstr>
      <vt:lpstr>Times New Roman</vt:lpstr>
      <vt:lpstr>Office Theme</vt:lpstr>
      <vt:lpstr>Title</vt:lpstr>
      <vt:lpstr>Title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Pushpendra Kumar Dhansoia</dc:creator>
  <cp:lastModifiedBy>Admin</cp:lastModifiedBy>
  <cp:revision>6</cp:revision>
  <dcterms:created xsi:type="dcterms:W3CDTF">2022-02-21T05:08:08Z</dcterms:created>
  <dcterms:modified xsi:type="dcterms:W3CDTF">2025-10-04T06:37:24Z</dcterms:modified>
</cp:coreProperties>
</file>